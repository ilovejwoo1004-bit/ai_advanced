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387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66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75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50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508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953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48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993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57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088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00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DEB7E-5A8D-49F2-A7CE-3D5BB5B61BA7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E309C-F42B-42E1-B741-0484D4967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53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69" y="518805"/>
            <a:ext cx="6635036" cy="5979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21905" y="0"/>
            <a:ext cx="5185611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tx2"/>
                </a:solidFill>
              </a:rPr>
              <a:t>1.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압력 변수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 smtClean="0"/>
              <a:t>    - </a:t>
            </a:r>
            <a:r>
              <a:rPr lang="en-US" altLang="ko-KR" dirty="0" err="1" smtClean="0"/>
              <a:t>suction_pressure</a:t>
            </a:r>
            <a:r>
              <a:rPr lang="en-US" altLang="ko-KR" dirty="0" smtClean="0"/>
              <a:t> (</a:t>
            </a:r>
            <a:r>
              <a:rPr lang="ko-KR" altLang="en-US" dirty="0" smtClean="0"/>
              <a:t>흡입 압력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en-US" altLang="ko-KR" dirty="0" err="1" smtClean="0"/>
              <a:t>discharge_pressure</a:t>
            </a:r>
            <a:r>
              <a:rPr lang="en-US" altLang="ko-KR" dirty="0" smtClean="0"/>
              <a:t> (</a:t>
            </a:r>
            <a:r>
              <a:rPr lang="ko-KR" altLang="en-US" dirty="0" err="1" smtClean="0"/>
              <a:t>토출</a:t>
            </a:r>
            <a:r>
              <a:rPr lang="ko-KR" altLang="en-US" dirty="0" smtClean="0"/>
              <a:t> 압력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en-US" altLang="ko-KR" dirty="0" err="1" smtClean="0"/>
              <a:t>differential_pressure</a:t>
            </a:r>
            <a:r>
              <a:rPr lang="en-US" altLang="ko-KR" dirty="0" smtClean="0"/>
              <a:t> (</a:t>
            </a:r>
            <a:r>
              <a:rPr lang="ko-KR" altLang="en-US" dirty="0" smtClean="0"/>
              <a:t>차압</a:t>
            </a:r>
            <a:r>
              <a:rPr lang="en-US" altLang="ko-KR" dirty="0" smtClean="0"/>
              <a:t>) 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* Rule : discharge ↑/ suction↓ </a:t>
            </a:r>
            <a:r>
              <a:rPr lang="en-US" altLang="ko-KR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문제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dirty="0" smtClean="0"/>
              <a:t>  </a:t>
            </a:r>
          </a:p>
          <a:p>
            <a:r>
              <a:rPr lang="en-US" altLang="ko-KR" b="1" dirty="0" smtClean="0">
                <a:solidFill>
                  <a:schemeClr val="tx2"/>
                </a:solidFill>
              </a:rPr>
              <a:t>2.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유량 변수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en-US" altLang="ko-KR" dirty="0" err="1" smtClean="0"/>
              <a:t>flow_rate</a:t>
            </a:r>
            <a:r>
              <a:rPr lang="en-US" altLang="ko-KR" dirty="0" smtClean="0"/>
              <a:t> (</a:t>
            </a:r>
            <a:r>
              <a:rPr lang="ko-KR" altLang="en-US" dirty="0" smtClean="0"/>
              <a:t>유량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r>
              <a:rPr lang="en-US" altLang="ko-KR" dirty="0" smtClean="0">
                <a:solidFill>
                  <a:srgbClr val="FF0000"/>
                </a:solidFill>
              </a:rPr>
              <a:t>* Rule : </a:t>
            </a:r>
            <a:r>
              <a:rPr lang="ko-KR" altLang="en-US" dirty="0" smtClean="0">
                <a:solidFill>
                  <a:srgbClr val="FF0000"/>
                </a:solidFill>
              </a:rPr>
              <a:t>유량 </a:t>
            </a:r>
            <a:r>
              <a:rPr lang="en-US" altLang="ko-KR" b="1" dirty="0" smtClean="0">
                <a:solidFill>
                  <a:srgbClr val="FF0000"/>
                </a:solidFill>
              </a:rPr>
              <a:t>↓  </a:t>
            </a:r>
            <a:r>
              <a:rPr lang="en-US" altLang="ko-KR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공압</a:t>
            </a:r>
            <a:r>
              <a:rPr lang="en-US" altLang="ko-KR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실린더</a:t>
            </a:r>
            <a:r>
              <a:rPr lang="en-US" altLang="ko-KR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공기압 문제</a:t>
            </a:r>
            <a:r>
              <a:rPr lang="en-US" altLang="ko-KR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chemeClr val="tx2"/>
                </a:solidFill>
              </a:rPr>
              <a:t>3. </a:t>
            </a:r>
            <a:r>
              <a:rPr lang="ko-KR" altLang="en-US" b="1" u="sng" dirty="0" smtClean="0">
                <a:solidFill>
                  <a:schemeClr val="tx2"/>
                </a:solidFill>
              </a:rPr>
              <a:t>모터 변수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en-US" altLang="ko-KR" dirty="0" err="1" smtClean="0"/>
              <a:t>motor_current</a:t>
            </a:r>
            <a:r>
              <a:rPr lang="en-US" altLang="ko-KR" dirty="0" smtClean="0"/>
              <a:t> (</a:t>
            </a:r>
            <a:r>
              <a:rPr lang="ko-KR" altLang="en-US" dirty="0" smtClean="0"/>
              <a:t>전류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en-US" altLang="ko-KR" dirty="0" err="1" smtClean="0"/>
              <a:t>motor_power</a:t>
            </a:r>
            <a:r>
              <a:rPr lang="en-US" altLang="ko-KR" dirty="0" smtClean="0"/>
              <a:t> (</a:t>
            </a:r>
            <a:r>
              <a:rPr lang="ko-KR" altLang="en-US" dirty="0" smtClean="0"/>
              <a:t>전원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 voltage (</a:t>
            </a:r>
            <a:r>
              <a:rPr lang="ko-KR" altLang="en-US" dirty="0" smtClean="0"/>
              <a:t>전압</a:t>
            </a:r>
            <a:r>
              <a:rPr lang="en-US" altLang="ko-KR" dirty="0" smtClean="0"/>
              <a:t>)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* Rule : </a:t>
            </a:r>
            <a:r>
              <a:rPr lang="ko-KR" alt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전류</a:t>
            </a:r>
            <a:r>
              <a:rPr lang="en-US" altLang="ko-KR" b="1" dirty="0" smtClean="0">
                <a:solidFill>
                  <a:srgbClr val="FF0000"/>
                </a:solidFill>
              </a:rPr>
              <a:t> ↑(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부하증가</a:t>
            </a:r>
            <a:r>
              <a:rPr lang="en-US" altLang="ko-KR" b="1" dirty="0" smtClean="0">
                <a:solidFill>
                  <a:srgbClr val="FF0000"/>
                </a:solidFill>
              </a:rPr>
              <a:t>)/ </a:t>
            </a:r>
            <a:r>
              <a:rPr lang="ko-KR" altLang="en-US" b="1" dirty="0" smtClean="0">
                <a:solidFill>
                  <a:srgbClr val="FF0000"/>
                </a:solidFill>
              </a:rPr>
              <a:t>유량 </a:t>
            </a:r>
            <a:r>
              <a:rPr lang="en-US" altLang="ko-KR" b="1" dirty="0" smtClean="0">
                <a:solidFill>
                  <a:srgbClr val="FF0000"/>
                </a:solidFill>
              </a:rPr>
              <a:t>↓(</a:t>
            </a:r>
            <a:r>
              <a:rPr lang="ko-KR" altLang="en-US" b="1" dirty="0" smtClean="0">
                <a:solidFill>
                  <a:srgbClr val="FF0000"/>
                </a:solidFill>
              </a:rPr>
              <a:t>성능저하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r>
              <a:rPr lang="en-US" altLang="ko-KR" b="1" dirty="0">
                <a:solidFill>
                  <a:schemeClr val="tx2"/>
                </a:solidFill>
              </a:rPr>
              <a:t>4</a:t>
            </a:r>
            <a:r>
              <a:rPr lang="en-US" altLang="ko-KR" b="1" dirty="0" smtClean="0">
                <a:solidFill>
                  <a:schemeClr val="tx2"/>
                </a:solidFill>
              </a:rPr>
              <a:t>.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진동 변수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 smtClean="0"/>
              <a:t>    - </a:t>
            </a:r>
            <a:r>
              <a:rPr lang="en-US" altLang="ko-KR" dirty="0" err="1" smtClean="0"/>
              <a:t>bearing_vibration</a:t>
            </a:r>
            <a:r>
              <a:rPr lang="en-US" altLang="ko-KR" dirty="0" smtClean="0"/>
              <a:t> (RMS, peak)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* Rule : </a:t>
            </a:r>
            <a:r>
              <a:rPr lang="ko-KR" altLang="en-US" b="1" dirty="0" smtClean="0">
                <a:solidFill>
                  <a:srgbClr val="FF0000"/>
                </a:solidFill>
              </a:rPr>
              <a:t>난류 증가로 인한 진동 패턴 변화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en-US" altLang="ko-KR" b="1" dirty="0" smtClean="0">
                <a:solidFill>
                  <a:schemeClr val="tx2"/>
                </a:solidFill>
              </a:rPr>
              <a:t>5.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온도 </a:t>
            </a:r>
            <a:r>
              <a:rPr lang="ko-KR" altLang="en-US" b="1" u="sng" dirty="0" smtClean="0">
                <a:solidFill>
                  <a:schemeClr val="tx2"/>
                </a:solidFill>
              </a:rPr>
              <a:t>변수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 smtClean="0"/>
              <a:t>    - </a:t>
            </a:r>
            <a:r>
              <a:rPr lang="en-US" altLang="ko-KR" dirty="0" err="1" smtClean="0"/>
              <a:t>motor_temperature</a:t>
            </a:r>
            <a:r>
              <a:rPr lang="en-US" altLang="ko-KR" dirty="0" smtClean="0"/>
              <a:t> (</a:t>
            </a:r>
            <a:r>
              <a:rPr lang="ko-KR" altLang="en-US" dirty="0" smtClean="0"/>
              <a:t>모터 온도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en-US" altLang="ko-KR" dirty="0" err="1" smtClean="0"/>
              <a:t>bearing_temperature</a:t>
            </a:r>
            <a:r>
              <a:rPr lang="en-US" altLang="ko-KR" dirty="0" smtClean="0"/>
              <a:t> (</a:t>
            </a:r>
            <a:r>
              <a:rPr lang="ko-KR" altLang="en-US" dirty="0" smtClean="0"/>
              <a:t>베어링 온도</a:t>
            </a:r>
            <a:r>
              <a:rPr lang="en-US" altLang="ko-KR" dirty="0" smtClean="0"/>
              <a:t>)</a:t>
            </a:r>
            <a:endParaRPr lang="en-US" altLang="ko-KR" dirty="0" smtClean="0"/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* Rule : </a:t>
            </a:r>
            <a:r>
              <a:rPr lang="ko-KR" altLang="en-US" b="1" dirty="0" smtClean="0">
                <a:solidFill>
                  <a:srgbClr val="FF0000"/>
                </a:solidFill>
              </a:rPr>
              <a:t>마찰 증가 인한 온도 상승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341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4537" y="48122"/>
            <a:ext cx="10756231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tx2"/>
                </a:solidFill>
              </a:rPr>
              <a:t>1.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압력 </a:t>
            </a:r>
            <a:r>
              <a:rPr lang="en-US" altLang="ko-KR" b="1" u="sng" dirty="0" smtClean="0">
                <a:solidFill>
                  <a:schemeClr val="tx2"/>
                </a:solidFill>
              </a:rPr>
              <a:t>&amp;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유량  지표   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 smtClean="0"/>
              <a:t>   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유량 대비 압력 비율 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pressure_flow_ratio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discharge_pressure</a:t>
            </a:r>
            <a:r>
              <a:rPr lang="en-US" altLang="ko-KR" sz="1600" dirty="0" smtClean="0"/>
              <a:t> / (</a:t>
            </a:r>
            <a:r>
              <a:rPr lang="en-US" altLang="ko-KR" sz="1600" dirty="0" err="1" smtClean="0"/>
              <a:t>flow_rate</a:t>
            </a:r>
            <a:r>
              <a:rPr lang="en-US" altLang="ko-KR" sz="1600" dirty="0" smtClean="0"/>
              <a:t> + </a:t>
            </a:r>
            <a:r>
              <a:rPr lang="el-GR" altLang="ko-KR" sz="1600" dirty="0" smtClean="0"/>
              <a:t>ε)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</a:t>
            </a:r>
            <a:r>
              <a:rPr lang="en-US" altLang="ko-KR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600" dirty="0" smtClean="0">
                <a:solidFill>
                  <a:srgbClr val="FF0000"/>
                </a:solidFill>
              </a:rPr>
              <a:t> </a:t>
            </a:r>
            <a:r>
              <a:rPr lang="ko-KR" altLang="en-US" sz="1600" dirty="0" smtClean="0">
                <a:solidFill>
                  <a:srgbClr val="FF0000"/>
                </a:solidFill>
              </a:rPr>
              <a:t>같은 압력에서 유량이 줄면 문제 발생</a:t>
            </a:r>
            <a:endParaRPr lang="en-US" altLang="ko-KR" sz="1600" dirty="0" smtClean="0">
              <a:solidFill>
                <a:srgbClr val="FF0000"/>
              </a:solidFill>
            </a:endParaRPr>
          </a:p>
          <a:p>
            <a:r>
              <a:rPr lang="en-US" altLang="ko-KR" sz="1600" b="1" dirty="0">
                <a:solidFill>
                  <a:srgbClr val="FF0000"/>
                </a:solidFill>
              </a:rPr>
              <a:t>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   </a:t>
            </a:r>
            <a:r>
              <a:rPr lang="en-US" altLang="ko-KR" sz="1600" b="1" dirty="0" smtClean="0"/>
              <a:t>-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차압 대비 유량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dp_per_flow</a:t>
            </a:r>
            <a:r>
              <a:rPr lang="en-US" altLang="ko-KR" sz="1600" dirty="0" smtClean="0"/>
              <a:t> = (</a:t>
            </a:r>
            <a:r>
              <a:rPr lang="en-US" altLang="ko-KR" sz="1600" dirty="0" err="1" smtClean="0"/>
              <a:t>discharge_pressure</a:t>
            </a:r>
            <a:r>
              <a:rPr lang="en-US" altLang="ko-KR" sz="1600" dirty="0" smtClean="0"/>
              <a:t> - </a:t>
            </a:r>
            <a:r>
              <a:rPr lang="en-US" altLang="ko-KR" sz="1600" dirty="0" err="1" smtClean="0"/>
              <a:t>suction_pressure</a:t>
            </a:r>
            <a:r>
              <a:rPr lang="en-US" altLang="ko-KR" sz="1600" dirty="0" smtClean="0"/>
              <a:t>) / (</a:t>
            </a:r>
            <a:r>
              <a:rPr lang="en-US" altLang="ko-KR" sz="1600" dirty="0" err="1" smtClean="0"/>
              <a:t>flow_rate</a:t>
            </a:r>
            <a:r>
              <a:rPr lang="en-US" altLang="ko-KR" sz="1600" dirty="0" smtClean="0"/>
              <a:t> + ε)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</a:t>
            </a:r>
            <a:r>
              <a:rPr lang="en-US" altLang="ko-KR" sz="1600" dirty="0" smtClean="0">
                <a:solidFill>
                  <a:srgbClr val="FF0000"/>
                </a:solidFill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600" dirty="0" err="1" smtClean="0">
                <a:solidFill>
                  <a:srgbClr val="FF0000"/>
                </a:solidFill>
              </a:rPr>
              <a:t>discharge_pressure</a:t>
            </a:r>
            <a:r>
              <a:rPr lang="ko-KR" altLang="en-US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유지</a:t>
            </a:r>
            <a:r>
              <a:rPr lang="en-US" altLang="ko-KR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/ flow </a:t>
            </a:r>
            <a:r>
              <a:rPr lang="ko-KR" altLang="en-US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감소 시</a:t>
            </a:r>
            <a:r>
              <a:rPr lang="en-US" altLang="ko-KR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en-US" altLang="ko-KR" sz="1600" dirty="0" err="1" smtClean="0">
                <a:solidFill>
                  <a:srgbClr val="FF0000"/>
                </a:solidFill>
              </a:rPr>
              <a:t>dp_per_flow</a:t>
            </a:r>
            <a:r>
              <a:rPr lang="en-US" altLang="ko-KR" sz="1600" dirty="0" smtClean="0">
                <a:solidFill>
                  <a:srgbClr val="FF0000"/>
                </a:solidFill>
              </a:rPr>
              <a:t> </a:t>
            </a:r>
            <a:r>
              <a:rPr lang="ko-KR" altLang="en-US" sz="1600" dirty="0" smtClean="0">
                <a:solidFill>
                  <a:srgbClr val="FF0000"/>
                </a:solidFill>
              </a:rPr>
              <a:t>값 증가</a:t>
            </a:r>
            <a:endParaRPr lang="en-US" altLang="ko-KR" sz="1600" dirty="0" smtClean="0">
              <a:solidFill>
                <a:srgbClr val="FF0000"/>
              </a:solidFill>
            </a:endParaRP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</a:t>
            </a:r>
            <a:r>
              <a:rPr lang="ko-KR" altLang="en-US" sz="1600" dirty="0" smtClean="0"/>
              <a:t>유량 감소율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flow_drop_rate</a:t>
            </a:r>
            <a:r>
              <a:rPr lang="en-US" altLang="ko-KR" sz="1600" dirty="0" smtClean="0"/>
              <a:t> = (</a:t>
            </a:r>
            <a:r>
              <a:rPr lang="en-US" altLang="ko-KR" sz="1600" dirty="0" err="1" smtClean="0"/>
              <a:t>flow_baseline</a:t>
            </a:r>
            <a:r>
              <a:rPr lang="en-US" altLang="ko-KR" sz="1600" dirty="0" smtClean="0"/>
              <a:t> - </a:t>
            </a:r>
            <a:r>
              <a:rPr lang="en-US" altLang="ko-KR" sz="1600" dirty="0" err="1" smtClean="0"/>
              <a:t>flow_current</a:t>
            </a:r>
            <a:r>
              <a:rPr lang="en-US" altLang="ko-KR" sz="1600" dirty="0" smtClean="0"/>
              <a:t>) / </a:t>
            </a:r>
            <a:r>
              <a:rPr lang="en-US" altLang="ko-KR" sz="1600" dirty="0" err="1" smtClean="0"/>
              <a:t>flow_baseline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</a:t>
            </a:r>
            <a:r>
              <a:rPr lang="en-US" altLang="ko-KR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평균 대비 감소율</a:t>
            </a:r>
            <a:endParaRPr lang="en-US" altLang="ko-KR" sz="1600" dirty="0" smtClean="0"/>
          </a:p>
          <a:p>
            <a:r>
              <a:rPr lang="en-US" altLang="ko-KR" dirty="0" smtClean="0">
                <a:solidFill>
                  <a:srgbClr val="FF0000"/>
                </a:solidFill>
              </a:rPr>
              <a:t>   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chemeClr val="tx2"/>
                </a:solidFill>
              </a:rPr>
              <a:t>2.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유량 </a:t>
            </a:r>
            <a:r>
              <a:rPr lang="en-US" altLang="ko-KR" b="1" u="sng" dirty="0" smtClean="0">
                <a:solidFill>
                  <a:schemeClr val="tx2"/>
                </a:solidFill>
              </a:rPr>
              <a:t>&amp;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전력 지표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유량 대비 전력 효율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flow_per_power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flow_rate</a:t>
            </a:r>
            <a:r>
              <a:rPr lang="en-US" altLang="ko-KR" sz="1600" dirty="0" smtClean="0"/>
              <a:t> / (</a:t>
            </a:r>
            <a:r>
              <a:rPr lang="en-US" altLang="ko-KR" sz="1600" dirty="0" err="1" smtClean="0"/>
              <a:t>motor_power</a:t>
            </a:r>
            <a:r>
              <a:rPr lang="en-US" altLang="ko-KR" sz="1600" dirty="0" smtClean="0"/>
              <a:t> + </a:t>
            </a:r>
            <a:r>
              <a:rPr lang="el-GR" altLang="ko-KR" sz="1600" dirty="0" smtClean="0"/>
              <a:t>ε)</a:t>
            </a:r>
            <a:endParaRPr lang="en-US" altLang="ko-KR" sz="1600" dirty="0" smtClean="0"/>
          </a:p>
          <a:p>
            <a:r>
              <a:rPr lang="en-US" altLang="ko-KR" sz="1600" dirty="0" smtClean="0"/>
              <a:t>     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같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은 전력인데 유량 감소 시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효율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↓</a:t>
            </a:r>
          </a:p>
          <a:p>
            <a:r>
              <a:rPr lang="en-US" altLang="ko-KR" sz="1600" dirty="0" smtClean="0"/>
              <a:t>    - </a:t>
            </a:r>
            <a:r>
              <a:rPr lang="ko-KR" altLang="en-US" sz="1600" dirty="0" smtClean="0"/>
              <a:t>압력 대비 전력 효율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pressure_per_power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discharge_pressure</a:t>
            </a:r>
            <a:r>
              <a:rPr lang="en-US" altLang="ko-KR" sz="1600" dirty="0" smtClean="0"/>
              <a:t> / (</a:t>
            </a:r>
            <a:r>
              <a:rPr lang="en-US" altLang="ko-KR" sz="1600" dirty="0" err="1" smtClean="0"/>
              <a:t>motor_power</a:t>
            </a:r>
            <a:r>
              <a:rPr lang="en-US" altLang="ko-KR" sz="1600" dirty="0" smtClean="0"/>
              <a:t> + </a:t>
            </a:r>
            <a:r>
              <a:rPr lang="el-GR" altLang="ko-KR" sz="1600" dirty="0" smtClean="0"/>
              <a:t>ε)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비정상적인 부하 증가</a:t>
            </a:r>
            <a:endParaRPr lang="en-US" altLang="ko-KR" sz="1600" b="1" dirty="0" smtClean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en-US" altLang="ko-KR" b="1" dirty="0" smtClean="0">
                <a:solidFill>
                  <a:schemeClr val="tx2"/>
                </a:solidFill>
              </a:rPr>
              <a:t>3. </a:t>
            </a:r>
            <a:r>
              <a:rPr lang="ko-KR" altLang="en-US" b="1" u="sng" dirty="0" err="1" smtClean="0">
                <a:solidFill>
                  <a:schemeClr val="tx2"/>
                </a:solidFill>
              </a:rPr>
              <a:t>동특성</a:t>
            </a:r>
            <a:r>
              <a:rPr lang="ko-KR" altLang="en-US" b="1" u="sng" dirty="0" smtClean="0">
                <a:solidFill>
                  <a:schemeClr val="tx2"/>
                </a:solidFill>
              </a:rPr>
              <a:t>  지표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압력 변동성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pressure_std</a:t>
            </a:r>
            <a:r>
              <a:rPr lang="en-US" altLang="ko-KR" sz="1600" dirty="0" smtClean="0"/>
              <a:t> / </a:t>
            </a:r>
            <a:r>
              <a:rPr lang="en-US" altLang="ko-KR" sz="1600" dirty="0" err="1" smtClean="0"/>
              <a:t>pressure_iqr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사분위값</a:t>
            </a:r>
            <a:r>
              <a:rPr lang="en-US" altLang="ko-KR" sz="1600" dirty="0" smtClean="0"/>
              <a:t>)   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변동 증가 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: </a:t>
            </a:r>
            <a:r>
              <a:rPr lang="ko-KR" altLang="en-US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흐름 불안정</a:t>
            </a:r>
            <a:endParaRPr lang="en-US" altLang="ko-KR" sz="1600" b="1" dirty="0" smtClean="0">
              <a:solidFill>
                <a:srgbClr val="FF0000"/>
              </a:solidFill>
            </a:endParaRP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</a:t>
            </a:r>
            <a:r>
              <a:rPr lang="ko-KR" altLang="en-US" sz="1600" dirty="0" smtClean="0"/>
              <a:t>유량 변동성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flow_std</a:t>
            </a:r>
            <a:r>
              <a:rPr lang="en-US" altLang="ko-KR" sz="1600" dirty="0" smtClean="0"/>
              <a:t> / </a:t>
            </a:r>
            <a:r>
              <a:rPr lang="en-US" altLang="ko-KR" sz="1600" dirty="0" err="1" smtClean="0"/>
              <a:t>flow_cv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std</a:t>
            </a:r>
            <a:r>
              <a:rPr lang="en-US" altLang="ko-KR" sz="1600" dirty="0" smtClean="0"/>
              <a:t> / mean 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불안정 흐름</a:t>
            </a:r>
            <a:endParaRPr lang="en-US" altLang="ko-KR" sz="1600" b="1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 smtClean="0">
                <a:sym typeface="Wingdings" panose="05000000000000000000" pitchFamily="2" charset="2"/>
              </a:rPr>
              <a:t>   - </a:t>
            </a:r>
            <a:r>
              <a:rPr lang="ko-KR" altLang="en-US" sz="1600" dirty="0" smtClean="0">
                <a:sym typeface="Wingdings" panose="05000000000000000000" pitchFamily="2" charset="2"/>
              </a:rPr>
              <a:t>응답 지연 </a:t>
            </a:r>
            <a:r>
              <a:rPr lang="en-US" altLang="ko-KR" sz="1600" dirty="0" smtClean="0">
                <a:sym typeface="Wingdings" panose="05000000000000000000" pitchFamily="2" charset="2"/>
              </a:rPr>
              <a:t>: </a:t>
            </a:r>
            <a:r>
              <a:rPr lang="en-US" altLang="ko-KR" sz="1600" dirty="0" err="1" smtClean="0">
                <a:sym typeface="Wingdings" panose="05000000000000000000" pitchFamily="2" charset="2"/>
              </a:rPr>
              <a:t>pressure_response_delay</a:t>
            </a:r>
            <a:r>
              <a:rPr lang="en-US" altLang="ko-KR" sz="1600" dirty="0" smtClean="0">
                <a:sym typeface="Wingdings" panose="05000000000000000000" pitchFamily="2" charset="2"/>
              </a:rPr>
              <a:t> 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b="1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벨브</a:t>
            </a:r>
            <a:r>
              <a:rPr lang="ko-KR" altLang="en-US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 열림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압력 반응 </a:t>
            </a:r>
            <a:r>
              <a:rPr lang="ko-KR" altLang="en-US" sz="1600" b="1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느려짐</a:t>
            </a:r>
            <a:endParaRPr lang="en-US" altLang="ko-KR" sz="1600" b="1" dirty="0" smtClean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en-US" altLang="ko-KR" b="1" dirty="0" smtClean="0">
                <a:solidFill>
                  <a:schemeClr val="tx2"/>
                </a:solidFill>
              </a:rPr>
              <a:t>4.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진동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 smtClean="0"/>
              <a:t>    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/>
              <a:t>vibration_rms</a:t>
            </a:r>
            <a:r>
              <a:rPr lang="en-US" altLang="ko-KR" sz="1600" dirty="0" smtClean="0"/>
              <a:t> 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</a:t>
            </a:r>
            <a:r>
              <a:rPr lang="en-US" altLang="ko-KR" sz="1600" dirty="0" err="1" smtClean="0"/>
              <a:t>vibration_bandpower_high</a:t>
            </a:r>
            <a:r>
              <a:rPr lang="en-US" altLang="ko-KR" sz="1600" dirty="0" smtClean="0"/>
              <a:t>      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난류 시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고주파 증가</a:t>
            </a:r>
            <a:endParaRPr lang="en-US" altLang="ko-KR" sz="1600" b="1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b="1" dirty="0" smtClean="0">
              <a:solidFill>
                <a:schemeClr val="tx2"/>
              </a:solidFill>
            </a:endParaRPr>
          </a:p>
          <a:p>
            <a:r>
              <a:rPr lang="en-US" altLang="ko-KR" b="1" dirty="0" smtClean="0">
                <a:solidFill>
                  <a:schemeClr val="tx2"/>
                </a:solidFill>
              </a:rPr>
              <a:t>5. </a:t>
            </a:r>
            <a:r>
              <a:rPr lang="ko-KR" altLang="en-US" b="1" u="sng" dirty="0" smtClean="0">
                <a:solidFill>
                  <a:schemeClr val="tx2"/>
                </a:solidFill>
              </a:rPr>
              <a:t>초당 시간 대비 온도 변화율 </a:t>
            </a:r>
            <a:endParaRPr lang="en-US" altLang="ko-KR" b="1" u="sng" dirty="0" smtClean="0">
              <a:solidFill>
                <a:schemeClr val="tx2"/>
              </a:solidFill>
            </a:endParaRPr>
          </a:p>
          <a:p>
            <a:r>
              <a:rPr lang="en-US" altLang="ko-KR" dirty="0" smtClean="0"/>
              <a:t>    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/>
              <a:t>temp_slope</a:t>
            </a:r>
            <a:r>
              <a:rPr lang="en-US" altLang="ko-KR" sz="1600" dirty="0" smtClean="0"/>
              <a:t> = </a:t>
            </a:r>
            <a:r>
              <a:rPr lang="en-US" altLang="ko-KR" sz="1600" dirty="0" err="1" smtClean="0"/>
              <a:t>dT</a:t>
            </a:r>
            <a:r>
              <a:rPr lang="en-US" altLang="ko-KR" sz="1600" dirty="0" smtClean="0"/>
              <a:t>(t – (-t)) / </a:t>
            </a:r>
            <a:r>
              <a:rPr lang="en-US" altLang="ko-KR" sz="1600" dirty="0" err="1" smtClean="0"/>
              <a:t>dt</a:t>
            </a:r>
            <a:r>
              <a:rPr lang="en-US" altLang="ko-KR" sz="1600" dirty="0" smtClean="0"/>
              <a:t>(second)</a:t>
            </a:r>
          </a:p>
          <a:p>
            <a:r>
              <a:rPr lang="en-US" altLang="ko-KR" sz="1600" dirty="0" smtClean="0"/>
              <a:t>       </a:t>
            </a:r>
            <a:r>
              <a:rPr lang="en-US" altLang="ko-KR" sz="16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장기적으로 막히면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값이 증가</a:t>
            </a:r>
            <a:endParaRPr lang="en-US" altLang="ko-KR" sz="1600" b="1" dirty="0" smtClean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56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363</Words>
  <Application>Microsoft Office PowerPoint</Application>
  <PresentationFormat>와이드스크린</PresentationFormat>
  <Paragraphs>50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27</cp:revision>
  <dcterms:created xsi:type="dcterms:W3CDTF">2026-04-09T00:13:37Z</dcterms:created>
  <dcterms:modified xsi:type="dcterms:W3CDTF">2026-04-09T01:24:43Z</dcterms:modified>
</cp:coreProperties>
</file>