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9" r:id="rId3"/>
    <p:sldId id="280" r:id="rId4"/>
    <p:sldId id="281" r:id="rId5"/>
    <p:sldId id="282" r:id="rId6"/>
    <p:sldId id="257" r:id="rId7"/>
    <p:sldId id="267" r:id="rId8"/>
    <p:sldId id="266" r:id="rId9"/>
    <p:sldId id="268" r:id="rId10"/>
    <p:sldId id="270" r:id="rId11"/>
    <p:sldId id="269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155" autoAdjust="0"/>
  </p:normalViewPr>
  <p:slideViewPr>
    <p:cSldViewPr snapToGrid="0" snapToObjects="1">
      <p:cViewPr varScale="1">
        <p:scale>
          <a:sx n="64" d="100"/>
          <a:sy n="64" d="100"/>
        </p:scale>
        <p:origin x="29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EE57E-6588-459C-A731-0561CDFD0053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2B881-2724-480F-A43C-94AC046B37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42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45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1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01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984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538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785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874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601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B881-2724-480F-A43C-94AC046B372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76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/ ML / </a:t>
            </a:r>
            <a:r>
              <a:rPr lang="en-US" dirty="0"/>
              <a:t>DL </a:t>
            </a:r>
            <a:r>
              <a:rPr lang="ko-KR" altLang="en-US" dirty="0"/>
              <a:t>관계</a:t>
            </a:r>
            <a:endParaRPr dirty="0"/>
          </a:p>
        </p:txBody>
      </p:sp>
      <p:pic>
        <p:nvPicPr>
          <p:cNvPr id="4" name="Picture 3" descr="ai_ml_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369" y="1677016"/>
            <a:ext cx="5115261" cy="382978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C7F4368-0605-4C89-B927-872AD0A9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025" y="5544535"/>
            <a:ext cx="49369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⊃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⊃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데이터 분석 + 통계 + ML 포함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미지의 일을 예측하는 원리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1B8761-812B-4C5E-A648-B798EB7F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" y="1660560"/>
            <a:ext cx="8987246" cy="47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3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미지의 일을 예측하는 원리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0E408D-E8A6-4F6B-BD3E-80AB49E7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1014"/>
            <a:ext cx="66960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6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미지의 일을 예측하는 원리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58F73E-A442-42BA-8637-80065DC85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1032"/>
            <a:ext cx="823912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미지의 일을 예측하는 원리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903CC1-A6B8-484A-B2D6-E8282242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2381249"/>
            <a:ext cx="8817429" cy="24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1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지도</a:t>
            </a:r>
            <a:r>
              <a:rPr dirty="0"/>
              <a:t> vs </a:t>
            </a:r>
            <a:r>
              <a:rPr dirty="0" err="1"/>
              <a:t>비지도</a:t>
            </a:r>
            <a:endParaRPr dirty="0"/>
          </a:p>
        </p:txBody>
      </p:sp>
      <p:pic>
        <p:nvPicPr>
          <p:cNvPr id="1026" name="Picture 2" descr="Supervised vs. Unsupervised Learning: What's the Difference?">
            <a:extLst>
              <a:ext uri="{FF2B5EF4-FFF2-40B4-BE49-F238E27FC236}">
                <a16:creationId xmlns:a16="http://schemas.microsoft.com/office/drawing/2014/main" id="{721EA689-7738-449C-819B-B983E249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26" y="2997104"/>
            <a:ext cx="3800528" cy="189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7DBB3079-694D-476A-8548-AFA9AD3CE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765" y="5664497"/>
            <a:ext cx="26629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지도학습: 정답 있음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비지도학습: 정답 없음 </a:t>
            </a:r>
          </a:p>
        </p:txBody>
      </p:sp>
      <p:pic>
        <p:nvPicPr>
          <p:cNvPr id="1031" name="Picture 7" descr="Supervised vs. Unsupervised Learning [Differences &amp; Examples]">
            <a:extLst>
              <a:ext uri="{FF2B5EF4-FFF2-40B4-BE49-F238E27FC236}">
                <a16:creationId xmlns:a16="http://schemas.microsoft.com/office/drawing/2014/main" id="{6350382A-85B4-45C7-8B8B-A8082A476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24957"/>
            <a:ext cx="4481768" cy="333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778729E-EAB0-4C4D-B524-912DD1A198A3}"/>
              </a:ext>
            </a:extLst>
          </p:cNvPr>
          <p:cNvSpPr/>
          <p:nvPr/>
        </p:nvSpPr>
        <p:spPr>
          <a:xfrm>
            <a:off x="4065972" y="3863789"/>
            <a:ext cx="394447" cy="5558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회귀</a:t>
            </a:r>
            <a:r>
              <a:rPr dirty="0"/>
              <a:t> vs </a:t>
            </a:r>
            <a:r>
              <a:rPr lang="ko-KR" altLang="en-US" dirty="0"/>
              <a:t>분류</a:t>
            </a:r>
            <a:r>
              <a:rPr lang="en-US" altLang="ko-KR" dirty="0"/>
              <a:t> vs </a:t>
            </a:r>
            <a:r>
              <a:rPr lang="ko-KR" altLang="en-US" dirty="0"/>
              <a:t>군집</a:t>
            </a:r>
            <a:endParaRPr dirty="0"/>
          </a:p>
        </p:txBody>
      </p:sp>
      <p:pic>
        <p:nvPicPr>
          <p:cNvPr id="7" name="Picture 4" descr="기계학습, 분류⦁회귀⦁군집, 기계학습의 유형">
            <a:extLst>
              <a:ext uri="{FF2B5EF4-FFF2-40B4-BE49-F238E27FC236}">
                <a16:creationId xmlns:a16="http://schemas.microsoft.com/office/drawing/2014/main" id="{8DFF35B8-A148-4FDF-B5B5-D916004A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42590"/>
            <a:ext cx="847725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7D9A155-6BB9-405C-8214-E2918CC5F913}"/>
              </a:ext>
            </a:extLst>
          </p:cNvPr>
          <p:cNvSpPr/>
          <p:nvPr/>
        </p:nvSpPr>
        <p:spPr>
          <a:xfrm>
            <a:off x="634530" y="6205955"/>
            <a:ext cx="1725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 ∈ ℝ (</a:t>
            </a:r>
            <a:r>
              <a:rPr lang="ko-KR" altLang="en-US" dirty="0"/>
              <a:t>실수 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F9CB53-EED8-45A1-8D7C-6B0A39303BF5}"/>
              </a:ext>
            </a:extLst>
          </p:cNvPr>
          <p:cNvSpPr/>
          <p:nvPr/>
        </p:nvSpPr>
        <p:spPr>
          <a:xfrm>
            <a:off x="4448175" y="6214030"/>
            <a:ext cx="282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 ∈ {0,1} </a:t>
            </a:r>
            <a:r>
              <a:rPr lang="ko-KR" altLang="en-US" dirty="0"/>
              <a:t>또는 여러 클래스</a:t>
            </a:r>
          </a:p>
        </p:txBody>
      </p:sp>
    </p:spTree>
    <p:extLst>
      <p:ext uri="{BB962C8B-B14F-4D97-AF65-F5344CB8AC3E}">
        <p14:creationId xmlns:p14="http://schemas.microsoft.com/office/powerpoint/2010/main" val="247798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C556E1-5C65-46A9-B906-F9D5E5DB6F93}"/>
              </a:ext>
            </a:extLst>
          </p:cNvPr>
          <p:cNvSpPr/>
          <p:nvPr/>
        </p:nvSpPr>
        <p:spPr>
          <a:xfrm>
            <a:off x="161365" y="3295947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와 정답 </a:t>
            </a:r>
            <a:r>
              <a:rPr lang="en-US" altLang="ko-KR" dirty="0"/>
              <a:t>y</a:t>
            </a:r>
            <a:r>
              <a:rPr lang="ko-KR" altLang="en-US" dirty="0"/>
              <a:t>가 주어지고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우리는 함수 </a:t>
            </a:r>
            <a:r>
              <a:rPr lang="en-US" altLang="ko-KR" dirty="0"/>
              <a:t>f</a:t>
            </a:r>
            <a:r>
              <a:rPr lang="ko-KR" altLang="en-US" dirty="0"/>
              <a:t>를 학습해서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예측값을</a:t>
            </a:r>
            <a:r>
              <a:rPr lang="ko-KR" altLang="en-US" dirty="0"/>
              <a:t> 만드는 구조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θ = </a:t>
            </a:r>
            <a:r>
              <a:rPr lang="ko-KR" altLang="en-US" dirty="0"/>
              <a:t>모델 파라미터 </a:t>
            </a:r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3D0B9-AB59-4C20-8367-41D8F0E09A79}"/>
              </a:ext>
            </a:extLst>
          </p:cNvPr>
          <p:cNvSpPr/>
          <p:nvPr/>
        </p:nvSpPr>
        <p:spPr>
          <a:xfrm>
            <a:off x="865289" y="2390675"/>
            <a:ext cx="1317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ko-KR" sz="2400" dirty="0"/>
              <a:t>y^=f(X;θ)</a:t>
            </a:r>
            <a:endParaRPr lang="ko-KR" altLang="en-US" sz="2400" dirty="0"/>
          </a:p>
        </p:txBody>
      </p:sp>
      <p:pic>
        <p:nvPicPr>
          <p:cNvPr id="4102" name="Picture 6" descr="Fundamentals of Machine Learning: Supervised Learning In A Nutshell | by  Dr. Leon Eversberg | Artificial Intelligence in Plain English">
            <a:extLst>
              <a:ext uri="{FF2B5EF4-FFF2-40B4-BE49-F238E27FC236}">
                <a16:creationId xmlns:a16="http://schemas.microsoft.com/office/drawing/2014/main" id="{9A21848A-96CF-4120-B760-F99D0F320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29" y="1941790"/>
            <a:ext cx="5394824" cy="361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38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손실함수</a:t>
            </a:r>
            <a:endParaRPr dirty="0"/>
          </a:p>
        </p:txBody>
      </p:sp>
      <p:pic>
        <p:nvPicPr>
          <p:cNvPr id="7170" name="Picture 2" descr="Visualizing Actual vs Predicted Prices in Regression Models | CodeSignal  Learn">
            <a:extLst>
              <a:ext uri="{FF2B5EF4-FFF2-40B4-BE49-F238E27FC236}">
                <a16:creationId xmlns:a16="http://schemas.microsoft.com/office/drawing/2014/main" id="{56DF0086-8ACD-4797-A614-41170FF4A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258" y="2086264"/>
            <a:ext cx="5416363" cy="340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D6ECE7D-E583-4A91-987A-57F59E4BE890}"/>
              </a:ext>
            </a:extLst>
          </p:cNvPr>
          <p:cNvSpPr txBox="1">
            <a:spLocks/>
          </p:cNvSpPr>
          <p:nvPr/>
        </p:nvSpPr>
        <p:spPr>
          <a:xfrm>
            <a:off x="358589" y="1203699"/>
            <a:ext cx="5522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u"/>
            </a:pPr>
            <a:r>
              <a:rPr lang="ko-KR" altLang="en-US" sz="2000" dirty="0" err="1"/>
              <a:t>예측값</a:t>
            </a:r>
            <a:r>
              <a:rPr lang="ko-KR" altLang="en-US" sz="2000" dirty="0"/>
              <a:t> </a:t>
            </a:r>
            <a:r>
              <a:rPr lang="en-US" altLang="ko-KR" sz="2000" dirty="0"/>
              <a:t>vs </a:t>
            </a:r>
            <a:r>
              <a:rPr lang="ko-KR" altLang="en-US" sz="2000" dirty="0" err="1"/>
              <a:t>실제값</a:t>
            </a:r>
            <a:r>
              <a:rPr lang="ko-KR" altLang="en-US" sz="2000" dirty="0"/>
              <a:t> 차이 </a:t>
            </a:r>
            <a:r>
              <a:rPr lang="en-US" altLang="ko-KR" sz="2000" dirty="0"/>
              <a:t>= </a:t>
            </a:r>
            <a:r>
              <a:rPr lang="ko-KR" altLang="en-US" sz="2000" dirty="0"/>
              <a:t>오차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F378D4-41B2-4286-AEDF-AABA1D2FD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294" y="5741811"/>
            <a:ext cx="2297436" cy="6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5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학습과정</a:t>
            </a:r>
            <a:endParaRPr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6ECE7D-E583-4A91-987A-57F59E4BE890}"/>
              </a:ext>
            </a:extLst>
          </p:cNvPr>
          <p:cNvSpPr txBox="1">
            <a:spLocks/>
          </p:cNvSpPr>
          <p:nvPr/>
        </p:nvSpPr>
        <p:spPr>
          <a:xfrm>
            <a:off x="358589" y="1203699"/>
            <a:ext cx="5522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u"/>
            </a:pPr>
            <a:r>
              <a:rPr lang="ko-KR" altLang="en-US" sz="2000" dirty="0" err="1"/>
              <a:t>경사하강법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예측값</a:t>
            </a:r>
            <a:r>
              <a:rPr lang="ko-KR" altLang="en-US" sz="2000" dirty="0"/>
              <a:t> </a:t>
            </a:r>
            <a:r>
              <a:rPr lang="en-US" altLang="ko-KR" sz="2000" dirty="0"/>
              <a:t>vs </a:t>
            </a:r>
            <a:r>
              <a:rPr lang="ko-KR" altLang="en-US" sz="2000" dirty="0" err="1"/>
              <a:t>실제값</a:t>
            </a:r>
            <a:r>
              <a:rPr lang="ko-KR" altLang="en-US" sz="2000" dirty="0"/>
              <a:t> 차이 </a:t>
            </a:r>
            <a:r>
              <a:rPr lang="en-US" altLang="ko-KR" sz="2000" dirty="0"/>
              <a:t>= </a:t>
            </a:r>
            <a:r>
              <a:rPr lang="ko-KR" altLang="en-US" sz="2000" dirty="0"/>
              <a:t>오차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8194" name="Picture 2" descr="Gradient Descent-Explained in Depth | by Anmol Talwar | Medium">
            <a:extLst>
              <a:ext uri="{FF2B5EF4-FFF2-40B4-BE49-F238E27FC236}">
                <a16:creationId xmlns:a16="http://schemas.microsoft.com/office/drawing/2014/main" id="{C62E046F-0D38-4407-B5D4-BA41C12C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43" y="2260703"/>
            <a:ext cx="5270687" cy="328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ncept of Gradient Descent in Machine Learning. | by VARSH G | Medium">
            <a:extLst>
              <a:ext uri="{FF2B5EF4-FFF2-40B4-BE49-F238E27FC236}">
                <a16:creationId xmlns:a16="http://schemas.microsoft.com/office/drawing/2014/main" id="{D436EC95-584C-4531-9AD4-5D8D82CC7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994" y="2971800"/>
            <a:ext cx="2747963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3D6993-52A2-441E-8B34-FB4DC8817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442" y="5835463"/>
            <a:ext cx="2146505" cy="55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학습과정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489832"/>
            <a:ext cx="2387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 err="1"/>
              <a:t>과적합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과소적합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97F639-3793-4A33-81C3-D66835CFF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01" y="2452687"/>
            <a:ext cx="8387597" cy="300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69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평가지표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489832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회귀평가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40B2E0-77F6-4F3A-B068-BEF18E350BF9}"/>
              </a:ext>
            </a:extLst>
          </p:cNvPr>
          <p:cNvSpPr/>
          <p:nvPr/>
        </p:nvSpPr>
        <p:spPr>
          <a:xfrm>
            <a:off x="457200" y="1935486"/>
            <a:ext cx="64027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/>
              <a:t>MAE (Mean Absolute Error)</a:t>
            </a:r>
          </a:p>
          <a:p>
            <a:r>
              <a:rPr lang="en-US" altLang="ko-KR" dirty="0"/>
              <a:t>        </a:t>
            </a:r>
          </a:p>
          <a:p>
            <a:r>
              <a:rPr lang="en-US" altLang="ko-KR" dirty="0"/>
              <a:t>      :MAE</a:t>
            </a:r>
            <a:r>
              <a:rPr lang="ko-KR" altLang="en-US" dirty="0"/>
              <a:t>는 </a:t>
            </a:r>
            <a:r>
              <a:rPr lang="ko-KR" altLang="en-US" dirty="0" err="1"/>
              <a:t>실제값과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차이를 절대값으로 계산한 평균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21364F-F054-4193-98B4-94DFEBD1DC24}"/>
              </a:ext>
            </a:extLst>
          </p:cNvPr>
          <p:cNvSpPr/>
          <p:nvPr/>
        </p:nvSpPr>
        <p:spPr>
          <a:xfrm>
            <a:off x="537241" y="3466671"/>
            <a:ext cx="35461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2) MSE (Mean Squared Error)</a:t>
            </a:r>
          </a:p>
          <a:p>
            <a:endParaRPr lang="en-US" altLang="ko-KR" dirty="0"/>
          </a:p>
          <a:p>
            <a:r>
              <a:rPr lang="en-US" altLang="ko-KR" dirty="0"/>
              <a:t>     : </a:t>
            </a:r>
            <a:r>
              <a:rPr lang="ko-KR" altLang="en-US" dirty="0"/>
              <a:t>오차를 제곱해서 평균을 낸 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14B687-B0A7-4C70-801B-CB8FA3BB92C4}"/>
              </a:ext>
            </a:extLst>
          </p:cNvPr>
          <p:cNvSpPr/>
          <p:nvPr/>
        </p:nvSpPr>
        <p:spPr>
          <a:xfrm>
            <a:off x="537241" y="4640246"/>
            <a:ext cx="3549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3) RMSE (Root Mean Squared Error)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D920B0-0BB9-4DEA-A49B-5355E38DD573}"/>
              </a:ext>
            </a:extLst>
          </p:cNvPr>
          <p:cNvSpPr/>
          <p:nvPr/>
        </p:nvSpPr>
        <p:spPr>
          <a:xfrm>
            <a:off x="537241" y="5701350"/>
            <a:ext cx="1744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4) R² (</a:t>
            </a:r>
            <a:r>
              <a:rPr lang="ko-KR" altLang="en-US" dirty="0"/>
              <a:t>결정계수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0B7608-0C95-4CFC-A2FF-D670C975F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78" y="1617789"/>
            <a:ext cx="2708908" cy="663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5AF0EE-F452-4FF2-8A8E-599B106BA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643" y="3222712"/>
            <a:ext cx="2889282" cy="6132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E9C906-1425-4966-9C5F-67C47FCC9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578" y="4414306"/>
            <a:ext cx="2870255" cy="68661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4CF961-434F-414A-B6B8-38CF4BE1F7E5}"/>
              </a:ext>
            </a:extLst>
          </p:cNvPr>
          <p:cNvSpPr/>
          <p:nvPr/>
        </p:nvSpPr>
        <p:spPr>
          <a:xfrm>
            <a:off x="741827" y="5170798"/>
            <a:ext cx="5803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: MSE</a:t>
            </a:r>
            <a:r>
              <a:rPr lang="ko-KR" altLang="en-US" dirty="0"/>
              <a:t>에 루트를 씌워서 원래 단위로 복원 </a:t>
            </a: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>
                <a:sym typeface="Wingdings" panose="05000000000000000000" pitchFamily="2" charset="2"/>
              </a:rPr>
              <a:t>큰 오차 강조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0D8A5D-2EBF-4D1C-B62A-F6603185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9577" y="5636994"/>
            <a:ext cx="2468657" cy="68136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CC6127-C314-49A8-AA08-CAA8A318AA6B}"/>
              </a:ext>
            </a:extLst>
          </p:cNvPr>
          <p:cNvSpPr/>
          <p:nvPr/>
        </p:nvSpPr>
        <p:spPr>
          <a:xfrm>
            <a:off x="896471" y="6126878"/>
            <a:ext cx="54066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: </a:t>
            </a:r>
            <a:r>
              <a:rPr lang="ko-KR" altLang="en-US" dirty="0"/>
              <a:t>모델이 데이터를 얼마나 잘 설명하는지를 나타냄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에 가까울수록 좋음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2349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평가지표</a:t>
            </a:r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528174" y="1489832"/>
            <a:ext cx="3694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분류평가 </a:t>
            </a:r>
            <a:r>
              <a:rPr lang="en-US" altLang="ko-KR" dirty="0"/>
              <a:t>(Confusion Matrix)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40B2E0-77F6-4F3A-B068-BEF18E350BF9}"/>
              </a:ext>
            </a:extLst>
          </p:cNvPr>
          <p:cNvSpPr/>
          <p:nvPr/>
        </p:nvSpPr>
        <p:spPr>
          <a:xfrm>
            <a:off x="457200" y="1935486"/>
            <a:ext cx="220291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1) Accuracy (</a:t>
            </a:r>
            <a:r>
              <a:rPr lang="ko-KR" altLang="en-US" dirty="0"/>
              <a:t>정확도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9218" name="Picture 2" descr="Structure of the confusion matrix with TP, FN, FP and TN values. | Download  Scientific Diagram">
            <a:extLst>
              <a:ext uri="{FF2B5EF4-FFF2-40B4-BE49-F238E27FC236}">
                <a16:creationId xmlns:a16="http://schemas.microsoft.com/office/drawing/2014/main" id="{86AD312C-02B5-4D2E-A508-DA80D4700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55262"/>
            <a:ext cx="4174191" cy="276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398589-7EE8-425A-A2DD-50EA3B6C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32" y="2298503"/>
            <a:ext cx="2552700" cy="4286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E59005-0223-4272-8677-E706BA31B3C6}"/>
              </a:ext>
            </a:extLst>
          </p:cNvPr>
          <p:cNvSpPr/>
          <p:nvPr/>
        </p:nvSpPr>
        <p:spPr>
          <a:xfrm>
            <a:off x="1063132" y="2740696"/>
            <a:ext cx="21283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전체 중 맞춘 비율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303D14-FA7A-448D-A7D6-1ED0B19DAB8B}"/>
              </a:ext>
            </a:extLst>
          </p:cNvPr>
          <p:cNvSpPr/>
          <p:nvPr/>
        </p:nvSpPr>
        <p:spPr>
          <a:xfrm>
            <a:off x="488867" y="3226584"/>
            <a:ext cx="215975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2) Precision(</a:t>
            </a:r>
            <a:r>
              <a:rPr lang="ko-KR" altLang="en-US" dirty="0"/>
              <a:t>정밀도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C78B4B8-7FF0-489C-B5B9-EC839A507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25" y="3575928"/>
            <a:ext cx="1914525" cy="5524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0525ED-D4D7-4419-BE3B-ABE118674366}"/>
              </a:ext>
            </a:extLst>
          </p:cNvPr>
          <p:cNvSpPr/>
          <p:nvPr/>
        </p:nvSpPr>
        <p:spPr>
          <a:xfrm>
            <a:off x="1045082" y="4059512"/>
            <a:ext cx="44264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모델이 </a:t>
            </a:r>
            <a:r>
              <a:rPr lang="en-US" altLang="ko-KR" sz="1600" dirty="0"/>
              <a:t>True</a:t>
            </a:r>
            <a:r>
              <a:rPr lang="ko-KR" altLang="en-US" sz="1600" dirty="0"/>
              <a:t>라고 분류한 것 중 실제 </a:t>
            </a:r>
            <a:r>
              <a:rPr lang="en-US" altLang="ko-KR" sz="1600" dirty="0"/>
              <a:t>True</a:t>
            </a:r>
            <a:r>
              <a:rPr lang="ko-KR" altLang="en-US" sz="1600" dirty="0"/>
              <a:t>의 비율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2A6D20-B5AE-40BD-BE19-1DDF1C5C24D3}"/>
              </a:ext>
            </a:extLst>
          </p:cNvPr>
          <p:cNvSpPr/>
          <p:nvPr/>
        </p:nvSpPr>
        <p:spPr>
          <a:xfrm>
            <a:off x="447454" y="4450594"/>
            <a:ext cx="180735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3) Recall(</a:t>
            </a:r>
            <a:r>
              <a:rPr lang="ko-KR" altLang="en-US" dirty="0" err="1"/>
              <a:t>재현율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BAF0072-4699-4124-9ACA-FAACCF0D0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765" y="4826702"/>
            <a:ext cx="1600200" cy="52387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790A46-2AB1-4880-A943-2550EAF7F738}"/>
              </a:ext>
            </a:extLst>
          </p:cNvPr>
          <p:cNvSpPr/>
          <p:nvPr/>
        </p:nvSpPr>
        <p:spPr>
          <a:xfrm>
            <a:off x="1045082" y="5233828"/>
            <a:ext cx="4883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실제 </a:t>
            </a:r>
            <a:r>
              <a:rPr lang="en-US" altLang="ko-KR" sz="1600" dirty="0"/>
              <a:t>True</a:t>
            </a:r>
            <a:r>
              <a:rPr lang="ko-KR" altLang="en-US" sz="1600" dirty="0"/>
              <a:t>인 것 중 모델이 </a:t>
            </a:r>
            <a:r>
              <a:rPr lang="en-US" altLang="ko-KR" sz="1600" dirty="0"/>
              <a:t>True</a:t>
            </a:r>
            <a:r>
              <a:rPr lang="ko-KR" altLang="en-US" sz="1600" dirty="0"/>
              <a:t>라고 예측한 것의 비율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E91D87-5CAD-4E74-9561-6731403B5CD4}"/>
              </a:ext>
            </a:extLst>
          </p:cNvPr>
          <p:cNvSpPr/>
          <p:nvPr/>
        </p:nvSpPr>
        <p:spPr>
          <a:xfrm>
            <a:off x="457200" y="5684174"/>
            <a:ext cx="2087303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4) F1 score (</a:t>
            </a:r>
            <a:r>
              <a:rPr lang="ko-KR" altLang="en-US" dirty="0" err="1"/>
              <a:t>재현율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   </a:t>
            </a:r>
          </a:p>
          <a:p>
            <a:r>
              <a:rPr lang="en-US" altLang="ko-KR" dirty="0"/>
              <a:t>      </a:t>
            </a:r>
          </a:p>
          <a:p>
            <a:r>
              <a:rPr lang="ko-KR" altLang="en-US" dirty="0"/>
              <a:t>  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86C6201-41B7-436D-8F5C-980B1ABFA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99" y="6018537"/>
            <a:ext cx="2162175" cy="47625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7CF034-88E8-46A8-A5C2-45D45C60BF86}"/>
              </a:ext>
            </a:extLst>
          </p:cNvPr>
          <p:cNvSpPr/>
          <p:nvPr/>
        </p:nvSpPr>
        <p:spPr>
          <a:xfrm>
            <a:off x="1036556" y="6437302"/>
            <a:ext cx="2887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: </a:t>
            </a:r>
            <a:r>
              <a:rPr lang="ko-KR" altLang="en-US" sz="1600" dirty="0"/>
              <a:t>정밀도와 재현율의 조화 척도</a:t>
            </a:r>
          </a:p>
        </p:txBody>
      </p:sp>
    </p:spTree>
    <p:extLst>
      <p:ext uri="{BB962C8B-B14F-4D97-AF65-F5344CB8AC3E}">
        <p14:creationId xmlns:p14="http://schemas.microsoft.com/office/powerpoint/2010/main" val="854218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데이터 분할</a:t>
            </a:r>
            <a:endParaRPr dirty="0"/>
          </a:p>
        </p:txBody>
      </p:sp>
      <p:pic>
        <p:nvPicPr>
          <p:cNvPr id="11266" name="Picture 2" descr="How to Actually Use Train, Validation and Test Sets">
            <a:extLst>
              <a:ext uri="{FF2B5EF4-FFF2-40B4-BE49-F238E27FC236}">
                <a16:creationId xmlns:a16="http://schemas.microsoft.com/office/drawing/2014/main" id="{BA48E937-86C0-480E-889D-DB4CDE4E6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5" y="1648656"/>
            <a:ext cx="8166847" cy="402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ACCC27D-39A7-47C1-A2C2-F67F7239AE26}"/>
              </a:ext>
            </a:extLst>
          </p:cNvPr>
          <p:cNvSpPr/>
          <p:nvPr/>
        </p:nvSpPr>
        <p:spPr>
          <a:xfrm>
            <a:off x="7094821" y="2612505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(80%)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BFF984-0B50-4CB8-A86A-A8E0EEF587C8}"/>
              </a:ext>
            </a:extLst>
          </p:cNvPr>
          <p:cNvSpPr/>
          <p:nvPr/>
        </p:nvSpPr>
        <p:spPr>
          <a:xfrm>
            <a:off x="7094821" y="4145353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(10%)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A55AD6-E113-4C30-8770-09A23524825B}"/>
              </a:ext>
            </a:extLst>
          </p:cNvPr>
          <p:cNvSpPr/>
          <p:nvPr/>
        </p:nvSpPr>
        <p:spPr>
          <a:xfrm>
            <a:off x="7094821" y="5493535"/>
            <a:ext cx="664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(10%)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800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298</Words>
  <Application>Microsoft Office PowerPoint</Application>
  <PresentationFormat>화면 슬라이드 쇼(4:3)</PresentationFormat>
  <Paragraphs>82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Wingdings</vt:lpstr>
      <vt:lpstr>Office Theme</vt:lpstr>
      <vt:lpstr>AI / ML / DL 관계</vt:lpstr>
      <vt:lpstr>미지의 일을 예측하는 원리</vt:lpstr>
      <vt:lpstr>미지의 일을 예측하는 원리</vt:lpstr>
      <vt:lpstr>미지의 일을 예측하는 원리</vt:lpstr>
      <vt:lpstr>미지의 일을 예측하는 원리</vt:lpstr>
      <vt:lpstr>지도 vs 비지도</vt:lpstr>
      <vt:lpstr>회귀 vs 분류 vs 군집</vt:lpstr>
      <vt:lpstr>머신러닝</vt:lpstr>
      <vt:lpstr>손실함수</vt:lpstr>
      <vt:lpstr>학습과정</vt:lpstr>
      <vt:lpstr>학습과정</vt:lpstr>
      <vt:lpstr>평가지표</vt:lpstr>
      <vt:lpstr>평가지표</vt:lpstr>
      <vt:lpstr>학습 데이터 분할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/ ML / DS</dc:title>
  <dc:subject/>
  <dc:creator/>
  <cp:keywords/>
  <dc:description>generated using python-pptx</dc:description>
  <cp:lastModifiedBy>admin</cp:lastModifiedBy>
  <cp:revision>76</cp:revision>
  <dcterms:created xsi:type="dcterms:W3CDTF">2013-01-27T09:14:16Z</dcterms:created>
  <dcterms:modified xsi:type="dcterms:W3CDTF">2026-08-20T08:45:50Z</dcterms:modified>
  <cp:category/>
</cp:coreProperties>
</file>