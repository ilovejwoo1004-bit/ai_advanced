
<file path=[Content_Types].xml><?xml version="1.0" encoding="utf-8"?>
<Types xmlns="http://schemas.openxmlformats.org/package/2006/content-types">
  <Default Extension="png" ContentType="image/png"/>
  <Default Extension="webp" ContentType="image/webp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2497" autoAdjust="0"/>
  </p:normalViewPr>
  <p:slideViewPr>
    <p:cSldViewPr snapToGrid="0" snapToObjects="1">
      <p:cViewPr varScale="1">
        <p:scale>
          <a:sx n="75" d="100"/>
          <a:sy n="75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ln w="25400" cap="flat">
              <a:solidFill>
                <a:srgbClr val="2F75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75B5"/>
              </a:solidFill>
              <a:ln w="9525" cap="flat">
                <a:solidFill>
                  <a:srgbClr val="2F75B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135</c:v>
                </c:pt>
                <c:pt idx="2">
                  <c:v>180</c:v>
                </c:pt>
                <c:pt idx="3">
                  <c:v>170</c:v>
                </c:pt>
                <c:pt idx="4">
                  <c:v>230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63-4E4D-99C7-E3DB14059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644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시간에는 데이터 분석에서 중요한 </a:t>
            </a:r>
            <a:r>
              <a:rPr lang="ko-KR" altLang="en-US" b="1" dirty="0"/>
              <a:t>데이터 시각화</a:t>
            </a:r>
            <a:r>
              <a:rPr lang="ko-KR" altLang="en-US" dirty="0"/>
              <a:t>에 대해 알아보겠습니다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먼저 데이터 시각화가 왜 필요한지 살펴보고</a:t>
            </a:r>
            <a:r>
              <a:rPr lang="en-US" altLang="ko-KR" dirty="0"/>
              <a:t>, Excel</a:t>
            </a:r>
            <a:r>
              <a:rPr lang="ko-KR" altLang="en-US" dirty="0"/>
              <a:t>이나 </a:t>
            </a:r>
            <a:r>
              <a:rPr lang="en-US" altLang="ko-KR" dirty="0"/>
              <a:t>Tableau </a:t>
            </a:r>
            <a:r>
              <a:rPr lang="ko-KR" altLang="en-US" dirty="0"/>
              <a:t>같은 도구부터 </a:t>
            </a:r>
            <a:r>
              <a:rPr lang="en-US" altLang="ko-KR" dirty="0"/>
              <a:t>Python</a:t>
            </a:r>
            <a:r>
              <a:rPr lang="ko-KR" altLang="en-US" dirty="0"/>
              <a:t>에서 사용하는 시각화 라이브러리까지 전체적으로 살펴보겠습니다</a:t>
            </a:r>
            <a:r>
              <a:rPr lang="en-US" altLang="ko-KR" dirty="0"/>
              <a:t>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시각화는 숫자나 문자로 되어 있는 데이터를 그래프나 차트처럼 </a:t>
            </a:r>
            <a:r>
              <a:rPr lang="ko-KR" altLang="en-US" b="1" dirty="0"/>
              <a:t>눈으로 쉽게 확인할 수 있는 형태로 표현하는 것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여기 월별 매출을 보면 숫자만 보는 것보다 그래프로 봤을 때 전체적인 증가 추세와 </a:t>
            </a:r>
            <a:r>
              <a:rPr lang="en-US" altLang="ko-KR" dirty="0"/>
              <a:t>4</a:t>
            </a:r>
            <a:r>
              <a:rPr lang="ko-KR" altLang="en-US" dirty="0"/>
              <a:t>월의 일시적인 감소를 훨씬 빠르게 확인할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바로 이것이 시각화의 가장 큰 장점입니다</a:t>
            </a:r>
            <a:r>
              <a:rPr lang="en-US" altLang="ko-KR" dirty="0"/>
              <a:t>.” </a:t>
            </a:r>
          </a:p>
          <a:p>
            <a:endParaRPr lang="en-US" altLang="ko-KR" dirty="0"/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“그렇다면 데이터 분석에서는 왜 이렇게 시각화를 중요하게 사용할까요</a:t>
            </a:r>
            <a:r>
              <a:rPr lang="en-US" altLang="ko-KR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“시각화의 목적은 단순히 예쁜 그래프를 만드는 것이 아닙니다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데이터의 </a:t>
            </a:r>
            <a:r>
              <a:rPr lang="ko-KR" altLang="en-US" b="1" dirty="0"/>
              <a:t>패턴을 발견하고</a:t>
            </a:r>
            <a:r>
              <a:rPr lang="en-US" altLang="ko-KR" b="1" dirty="0"/>
              <a:t>, </a:t>
            </a:r>
            <a:r>
              <a:rPr lang="ko-KR" altLang="en-US" b="1" dirty="0"/>
              <a:t>데이터를 비교하고</a:t>
            </a:r>
            <a:r>
              <a:rPr lang="en-US" altLang="ko-KR" b="1" dirty="0"/>
              <a:t>, </a:t>
            </a:r>
            <a:r>
              <a:rPr lang="ko-KR" altLang="en-US" b="1" dirty="0"/>
              <a:t>이상치를 찾는 데</a:t>
            </a:r>
            <a:r>
              <a:rPr lang="ko-KR" altLang="en-US" dirty="0"/>
              <a:t> 활용합니다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분석한 결과를 다른 사람에게 직관적으로 전달하는 역할도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시각화는 데이터 분석과 커뮤니케이션을 연결해 주는 중요한 도구라고 할 수 있습니다</a:t>
            </a:r>
            <a:r>
              <a:rPr lang="en-US" altLang="ko-KR" dirty="0"/>
              <a:t>.” </a:t>
            </a:r>
          </a:p>
          <a:p>
            <a:endParaRPr lang="en-US" altLang="ko-KR" dirty="0"/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“이러한 시각화를 할 수 있는 도구에는 여러 종류가 있습니다</a:t>
            </a:r>
            <a:r>
              <a:rPr lang="en-US" altLang="ko-KR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“시각화 도구는 크게 세 가지 정도로 나눠볼 수 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-Excel, Tableau, Power BI</a:t>
            </a:r>
            <a:r>
              <a:rPr lang="ko-KR" altLang="en-US" dirty="0"/>
              <a:t>처럼 화면에서 작업하는 </a:t>
            </a:r>
            <a:r>
              <a:rPr lang="en-US" altLang="ko-KR" b="1" dirty="0"/>
              <a:t>BI·</a:t>
            </a:r>
            <a:r>
              <a:rPr lang="ko-KR" altLang="en-US" b="1" dirty="0" err="1"/>
              <a:t>노코드</a:t>
            </a:r>
            <a:r>
              <a:rPr lang="ko-KR" altLang="en-US" b="1" dirty="0"/>
              <a:t> 도구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-Matplotlib</a:t>
            </a:r>
            <a:r>
              <a:rPr lang="ko-KR" altLang="en-US" dirty="0"/>
              <a:t>이나 </a:t>
            </a:r>
            <a:r>
              <a:rPr lang="en-US" altLang="ko-KR" dirty="0"/>
              <a:t>Seaborn, </a:t>
            </a:r>
            <a:r>
              <a:rPr lang="en-US" altLang="ko-KR" dirty="0" err="1"/>
              <a:t>ploty</a:t>
            </a:r>
            <a:r>
              <a:rPr lang="en-US" altLang="ko-KR" dirty="0"/>
              <a:t> </a:t>
            </a:r>
            <a:r>
              <a:rPr lang="ko-KR" altLang="en-US" dirty="0"/>
              <a:t>같은 </a:t>
            </a:r>
            <a:r>
              <a:rPr lang="en-US" altLang="ko-KR" b="1" dirty="0"/>
              <a:t>Python </a:t>
            </a:r>
            <a:r>
              <a:rPr lang="ko-KR" altLang="en-US" b="1" dirty="0"/>
              <a:t>라이브러리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그리고 </a:t>
            </a:r>
            <a:r>
              <a:rPr lang="ko-KR" altLang="en-US" b="1" dirty="0"/>
              <a:t>웹 시각화 도구</a:t>
            </a:r>
            <a:r>
              <a:rPr lang="ko-KR" altLang="en-US" dirty="0"/>
              <a:t>가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중요한 것은 어떤 도구가 가장 </a:t>
            </a:r>
            <a:r>
              <a:rPr lang="ko-KR" altLang="en-US" dirty="0" err="1"/>
              <a:t>좋으냐가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b="1" dirty="0"/>
              <a:t>목적에 맞는 도구를 선택하는 것</a:t>
            </a:r>
            <a:r>
              <a:rPr lang="ko-KR" altLang="en-US" dirty="0"/>
              <a:t>입니다</a:t>
            </a:r>
            <a:r>
              <a:rPr lang="en-US" altLang="ko-KR" dirty="0"/>
              <a:t>.” </a:t>
            </a:r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“그럼 시각화 도구에 대해 하나씩 살펴보겠습니다</a:t>
            </a:r>
            <a:r>
              <a:rPr lang="en-US" altLang="ko-KR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“먼저</a:t>
            </a:r>
            <a:r>
              <a:rPr lang="en-US" altLang="ko-KR" dirty="0"/>
              <a:t>, Excel</a:t>
            </a:r>
            <a:r>
              <a:rPr lang="ko-KR" altLang="en-US" dirty="0"/>
              <a:t>은 가장 접근하기 쉬운 데이터 시각화 도구입니다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별도의 프로그래밍 없이 막대그래프</a:t>
            </a:r>
            <a:r>
              <a:rPr lang="en-US" altLang="ko-KR" dirty="0"/>
              <a:t>, </a:t>
            </a:r>
            <a:r>
              <a:rPr lang="ko-KR" altLang="en-US" dirty="0"/>
              <a:t>선그래프</a:t>
            </a:r>
            <a:r>
              <a:rPr lang="en-US" altLang="ko-KR" dirty="0"/>
              <a:t>, </a:t>
            </a:r>
            <a:r>
              <a:rPr lang="ko-KR" altLang="en-US" dirty="0"/>
              <a:t>원그래프</a:t>
            </a:r>
            <a:r>
              <a:rPr lang="en-US" altLang="ko-KR" dirty="0"/>
              <a:t>, </a:t>
            </a:r>
            <a:r>
              <a:rPr lang="ko-KR" altLang="en-US" dirty="0" err="1"/>
              <a:t>산점도</a:t>
            </a:r>
            <a:r>
              <a:rPr lang="ko-KR" altLang="en-US" dirty="0"/>
              <a:t> 등을 빠르게 만들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특히 피벗 테이블이나 피벗 차트를 활용하면 데이터를 요약하고 분석하는 것도 가능하기 때문에 </a:t>
            </a:r>
            <a:endParaRPr lang="en-US" altLang="ko-KR" dirty="0"/>
          </a:p>
          <a:p>
            <a:r>
              <a:rPr lang="ko-KR" altLang="en-US" b="1" dirty="0"/>
              <a:t>간단한 데이터 분석과 보고서 작성에 적합합니다</a:t>
            </a:r>
            <a:r>
              <a:rPr lang="en-US" altLang="ko-KR" dirty="0"/>
              <a:t>.” </a:t>
            </a:r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“그렇다면 조금 더 전문적인 대시보드를 만들고 싶다면 어떤 도구를 사용할까요</a:t>
            </a:r>
            <a:r>
              <a:rPr lang="en-US" altLang="ko-KR" dirty="0"/>
              <a:t>?”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Tableau</a:t>
            </a:r>
            <a:r>
              <a:rPr lang="ko-KR" altLang="en-US" dirty="0"/>
              <a:t>는 데이터 시각화와 대시보드 제작에 특화된 </a:t>
            </a:r>
            <a:r>
              <a:rPr lang="en-US" altLang="ko-KR" dirty="0"/>
              <a:t>BI </a:t>
            </a:r>
            <a:r>
              <a:rPr lang="ko-KR" altLang="en-US" dirty="0"/>
              <a:t>도구입니다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화면의 예시처럼 막대그래프</a:t>
            </a:r>
            <a:r>
              <a:rPr lang="en-US" altLang="ko-KR" dirty="0"/>
              <a:t>, </a:t>
            </a:r>
            <a:r>
              <a:rPr lang="ko-KR" altLang="en-US" dirty="0"/>
              <a:t>선그래프</a:t>
            </a:r>
            <a:r>
              <a:rPr lang="en-US" altLang="ko-KR" dirty="0"/>
              <a:t>, </a:t>
            </a:r>
            <a:r>
              <a:rPr lang="ko-KR" altLang="en-US" dirty="0"/>
              <a:t>지도 등 </a:t>
            </a:r>
            <a:r>
              <a:rPr lang="ko-KR" altLang="en-US" b="1" dirty="0"/>
              <a:t>여러 시각화를 하나의 대시보드로 구성</a:t>
            </a:r>
            <a:r>
              <a:rPr lang="ko-KR" altLang="en-US" dirty="0"/>
              <a:t>할 수 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Drag &amp; Drop </a:t>
            </a:r>
            <a:r>
              <a:rPr lang="ko-KR" altLang="en-US" dirty="0"/>
              <a:t>방식이기 때문에 비교적 쉽게 사용할 수 있고</a:t>
            </a:r>
            <a:r>
              <a:rPr lang="en-US" altLang="ko-KR" dirty="0"/>
              <a:t>, </a:t>
            </a:r>
            <a:r>
              <a:rPr lang="ko-KR" altLang="en-US" dirty="0"/>
              <a:t>필터를 이용해서 데이터를 대화형으로 탐색할 수 있다는 장점이 있습니다</a:t>
            </a:r>
            <a:r>
              <a:rPr lang="en-US" altLang="ko-KR" dirty="0"/>
              <a:t>.” </a:t>
            </a:r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</a:t>
            </a:r>
            <a:r>
              <a:rPr lang="en-US" altLang="ko-KR" dirty="0"/>
              <a:t>Tableau</a:t>
            </a:r>
            <a:r>
              <a:rPr lang="ko-KR" altLang="en-US" dirty="0"/>
              <a:t>와 함께 기업에서 많이 사용하는 대표적인 </a:t>
            </a:r>
            <a:r>
              <a:rPr lang="en-US" altLang="ko-KR" dirty="0"/>
              <a:t>BI </a:t>
            </a:r>
            <a:r>
              <a:rPr lang="ko-KR" altLang="en-US" dirty="0"/>
              <a:t>도구가 하나 더 있습니다</a:t>
            </a:r>
            <a:r>
              <a:rPr lang="en-US" altLang="ko-KR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Power BI</a:t>
            </a:r>
            <a:r>
              <a:rPr lang="ko-KR" altLang="en-US" dirty="0"/>
              <a:t>는 </a:t>
            </a:r>
            <a:r>
              <a:rPr lang="en-US" altLang="ko-KR" dirty="0"/>
              <a:t>Microsoft</a:t>
            </a:r>
            <a:r>
              <a:rPr lang="ko-KR" altLang="en-US" dirty="0"/>
              <a:t>에서 제공하는 기업용 </a:t>
            </a:r>
            <a:r>
              <a:rPr lang="en-US" altLang="ko-KR" dirty="0"/>
              <a:t>BI </a:t>
            </a:r>
            <a:r>
              <a:rPr lang="ko-KR" altLang="en-US" dirty="0"/>
              <a:t>도구입니다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화면을 보면 매출</a:t>
            </a:r>
            <a:r>
              <a:rPr lang="en-US" altLang="ko-KR" dirty="0"/>
              <a:t>, </a:t>
            </a:r>
            <a:r>
              <a:rPr lang="ko-KR" altLang="en-US" dirty="0"/>
              <a:t>제품별 이익</a:t>
            </a:r>
            <a:r>
              <a:rPr lang="en-US" altLang="ko-KR" dirty="0"/>
              <a:t>, </a:t>
            </a:r>
            <a:r>
              <a:rPr lang="ko-KR" altLang="en-US" dirty="0"/>
              <a:t>지도 등의 정보를 하나의 화면에서 확인할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특히 </a:t>
            </a:r>
            <a:r>
              <a:rPr lang="en-US" altLang="ko-KR" dirty="0"/>
              <a:t>Excel</a:t>
            </a:r>
            <a:r>
              <a:rPr lang="ko-KR" altLang="en-US" dirty="0"/>
              <a:t>을 비롯한 다양한 데이터 소스와 연결하기 좋고</a:t>
            </a:r>
            <a:r>
              <a:rPr lang="en-US" altLang="ko-KR" dirty="0"/>
              <a:t>, </a:t>
            </a:r>
            <a:r>
              <a:rPr lang="ko-KR" altLang="en-US" b="1" dirty="0"/>
              <a:t>기업의 보고서나 실시간 모니터링용 대시보드</a:t>
            </a:r>
            <a:r>
              <a:rPr lang="ko-KR" altLang="en-US" dirty="0"/>
              <a:t>를 만드는 데 많이 활용됩니다</a:t>
            </a:r>
            <a:r>
              <a:rPr lang="en-US" altLang="ko-KR" dirty="0"/>
              <a:t>.” </a:t>
            </a:r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“지금까지는 주로 화면에서 그래프를 만드는 도구였다면</a:t>
            </a:r>
            <a:r>
              <a:rPr lang="en-US" altLang="ko-KR" dirty="0"/>
              <a:t>, </a:t>
            </a:r>
            <a:r>
              <a:rPr lang="ko-KR" altLang="en-US" dirty="0"/>
              <a:t>이제부터는 코드를 이용하는 </a:t>
            </a:r>
            <a:r>
              <a:rPr lang="en-US" altLang="ko-KR" dirty="0"/>
              <a:t>Python </a:t>
            </a:r>
            <a:r>
              <a:rPr lang="ko-KR" altLang="en-US" dirty="0"/>
              <a:t>시각화를 살펴보겠습니다</a:t>
            </a:r>
            <a:r>
              <a:rPr lang="en-US" altLang="ko-KR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8</a:t>
            </a:r>
            <a:r>
              <a:rPr lang="ko-KR" altLang="en-US" b="1" dirty="0"/>
              <a:t>페이지 </a:t>
            </a:r>
            <a:r>
              <a:rPr lang="en-US" altLang="ko-KR" b="1" dirty="0"/>
              <a:t>— Python </a:t>
            </a:r>
            <a:r>
              <a:rPr lang="ko-KR" altLang="en-US" b="1" dirty="0"/>
              <a:t>시각화 라이브러리</a:t>
            </a:r>
          </a:p>
          <a:p>
            <a:r>
              <a:rPr lang="ko-KR" altLang="en-US" dirty="0"/>
              <a:t>“</a:t>
            </a:r>
            <a:r>
              <a:rPr lang="en-US" altLang="ko-KR" dirty="0"/>
              <a:t>Python</a:t>
            </a:r>
            <a:r>
              <a:rPr lang="ko-KR" altLang="en-US" dirty="0"/>
              <a:t>에도 다양한 시각화 라이브러리가 있습니다</a:t>
            </a:r>
            <a:r>
              <a:rPr lang="en-US" altLang="ko-KR" dirty="0"/>
              <a:t>. </a:t>
            </a:r>
            <a:r>
              <a:rPr lang="ko-KR" altLang="en-US" dirty="0"/>
              <a:t>대표적으로 </a:t>
            </a:r>
            <a:r>
              <a:rPr lang="en-US" altLang="ko-KR" b="1" dirty="0"/>
              <a:t>Matplotlib, Seaborn, </a:t>
            </a:r>
            <a:r>
              <a:rPr lang="en-US" altLang="ko-KR" b="1" dirty="0" err="1"/>
              <a:t>Plotly</a:t>
            </a:r>
            <a:r>
              <a:rPr lang="ko-KR" altLang="en-US" dirty="0"/>
              <a:t>가 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-Matplotlib</a:t>
            </a:r>
            <a:r>
              <a:rPr lang="ko-KR" altLang="en-US" dirty="0"/>
              <a:t>은 기본적인 그래프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-Seaborn</a:t>
            </a:r>
            <a:r>
              <a:rPr lang="ko-KR" altLang="en-US" dirty="0"/>
              <a:t>은 통계적인 데이터 분석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-</a:t>
            </a:r>
            <a:r>
              <a:rPr lang="en-US" altLang="ko-KR" dirty="0" err="1"/>
              <a:t>Plotly</a:t>
            </a:r>
            <a:r>
              <a:rPr lang="ko-KR" altLang="en-US" dirty="0"/>
              <a:t>는 사용자와 상호작용할 수 있는 인터랙티브 시각화에 강점이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각 시각화 라이브러리에 대해 하나씩 살펴보겠습니다</a:t>
            </a:r>
            <a:r>
              <a:rPr lang="en-US" altLang="ko-KR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en-US" altLang="ko-KR" dirty="0"/>
              <a:t>Matplotlib</a:t>
            </a:r>
            <a:r>
              <a:rPr lang="ko-KR" altLang="en-US" dirty="0"/>
              <a:t>은 </a:t>
            </a:r>
            <a:r>
              <a:rPr lang="en-US" altLang="ko-KR" b="1" dirty="0"/>
              <a:t>Python </a:t>
            </a:r>
            <a:r>
              <a:rPr lang="ko-KR" altLang="en-US" b="1" dirty="0"/>
              <a:t>데이터 시각화의 가장 기본적인 라이브러리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화면처럼 선그래프</a:t>
            </a:r>
            <a:r>
              <a:rPr lang="en-US" altLang="ko-KR" dirty="0"/>
              <a:t>, </a:t>
            </a:r>
            <a:r>
              <a:rPr lang="ko-KR" altLang="en-US" dirty="0"/>
              <a:t>막대그래프</a:t>
            </a:r>
            <a:r>
              <a:rPr lang="en-US" altLang="ko-KR" dirty="0"/>
              <a:t>, </a:t>
            </a:r>
            <a:r>
              <a:rPr lang="ko-KR" altLang="en-US" dirty="0" err="1"/>
              <a:t>산점도</a:t>
            </a:r>
            <a:r>
              <a:rPr lang="en-US" altLang="ko-KR" dirty="0"/>
              <a:t>, </a:t>
            </a:r>
            <a:r>
              <a:rPr lang="ko-KR" altLang="en-US" dirty="0"/>
              <a:t>히스토그램</a:t>
            </a:r>
            <a:r>
              <a:rPr lang="en-US" altLang="ko-KR" dirty="0"/>
              <a:t>, </a:t>
            </a:r>
            <a:r>
              <a:rPr lang="ko-KR" altLang="en-US" dirty="0"/>
              <a:t>원그래프 등 대부분의 기본 그래프를 만들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앞으로 </a:t>
            </a:r>
            <a:r>
              <a:rPr lang="en-US" altLang="ko-KR" dirty="0"/>
              <a:t>Python</a:t>
            </a:r>
            <a:r>
              <a:rPr lang="ko-KR" altLang="en-US" dirty="0"/>
              <a:t>으로 시각화를 공부할 때 가장 먼저 배우게 되는 라이브러리라고 생각하면 됩니다</a:t>
            </a:r>
            <a:r>
              <a:rPr lang="en-US" altLang="ko-KR" dirty="0"/>
              <a:t>.” </a:t>
            </a:r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“그런데 실제 데이터 분석에서는 조금 더 편리하게 통계적인 그래프를 만들고 싶은 경우가 많습니다</a:t>
            </a:r>
            <a:r>
              <a:rPr lang="en-US" altLang="ko-KR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“이럴 때 많이 사용하는 것이 </a:t>
            </a:r>
            <a:r>
              <a:rPr lang="en-US" altLang="ko-KR" dirty="0"/>
              <a:t>Seaborn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Seaborn</a:t>
            </a:r>
            <a:r>
              <a:rPr lang="ko-KR" altLang="en-US" dirty="0"/>
              <a:t>은 </a:t>
            </a:r>
            <a:r>
              <a:rPr lang="en-US" altLang="ko-KR" dirty="0"/>
              <a:t>Matplotlib</a:t>
            </a:r>
            <a:r>
              <a:rPr lang="ko-KR" altLang="en-US" dirty="0"/>
              <a:t>을 기반으로 만들어졌고 </a:t>
            </a:r>
            <a:r>
              <a:rPr lang="ko-KR" altLang="en-US" b="1" dirty="0"/>
              <a:t>데이터의 분포나 변수 간 관계를 분석하는 데 특히 유용합니다</a:t>
            </a:r>
            <a:r>
              <a:rPr lang="en-US" altLang="ko-KR" b="1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화면처럼 </a:t>
            </a:r>
            <a:r>
              <a:rPr lang="en-US" altLang="ko-KR" dirty="0"/>
              <a:t>boxplot</a:t>
            </a:r>
            <a:r>
              <a:rPr lang="ko-KR" altLang="en-US" dirty="0"/>
              <a:t>이나 </a:t>
            </a:r>
            <a:r>
              <a:rPr lang="en-US" altLang="ko-KR" dirty="0"/>
              <a:t>scatterplot</a:t>
            </a:r>
            <a:r>
              <a:rPr lang="ko-KR" altLang="en-US" dirty="0"/>
              <a:t>을 이용해서 데이터의 분포와 관계를 쉽게 확인할 수 있고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heatmap</a:t>
            </a:r>
            <a:r>
              <a:rPr lang="ko-KR" altLang="en-US" dirty="0"/>
              <a:t>이나 </a:t>
            </a:r>
            <a:r>
              <a:rPr lang="en-US" altLang="ko-KR" dirty="0" err="1"/>
              <a:t>pairplot</a:t>
            </a:r>
            <a:r>
              <a:rPr lang="ko-KR" altLang="en-US" dirty="0"/>
              <a:t>도 데이터 탐색 과정에서 많이 사용합니다</a:t>
            </a:r>
            <a:r>
              <a:rPr lang="en-US" altLang="ko-KR" dirty="0"/>
              <a:t>.” </a:t>
            </a:r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“이번에는 정적인 그래프에서 한 단계 더 나아가 사용자와 상호작용할 수 있는 그래프를 살펴보겠습니다</a:t>
            </a:r>
            <a:r>
              <a:rPr lang="en-US" altLang="ko-KR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 err="1"/>
              <a:t>Plotly</a:t>
            </a:r>
            <a:r>
              <a:rPr lang="ko-KR" altLang="en-US" dirty="0"/>
              <a:t>는 </a:t>
            </a:r>
            <a:r>
              <a:rPr lang="ko-KR" altLang="en-US" b="1" dirty="0"/>
              <a:t>인터랙티브 시각화에 강한 라이브러리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그래프에 마우스를 올리면 실제 데이터 값을 확인할 수 있고</a:t>
            </a:r>
            <a:r>
              <a:rPr lang="en-US" altLang="ko-KR" dirty="0"/>
              <a:t>, </a:t>
            </a:r>
            <a:r>
              <a:rPr lang="ko-KR" altLang="en-US" dirty="0"/>
              <a:t>확대하거나 특정 구간만 선택해서 살펴볼 수도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화면처럼 여러 그래프를 대시보드 형태로 구성할 수도 있어서 웹 기반 데이터 시각화에 많이 활용됩니다</a:t>
            </a:r>
            <a:r>
              <a:rPr lang="en-US" altLang="ko-KR" dirty="0"/>
              <a:t>.” </a:t>
            </a:r>
          </a:p>
          <a:p>
            <a:r>
              <a:rPr lang="ko-KR" altLang="en-US" b="1" dirty="0"/>
              <a:t>→ 연결</a:t>
            </a:r>
            <a:r>
              <a:rPr lang="en-US" altLang="ko-KR" b="1" dirty="0"/>
              <a:t>:</a:t>
            </a:r>
            <a:r>
              <a:rPr lang="ko-KR" altLang="en-US" dirty="0"/>
              <a:t> “마지막으로 지금까지 살펴본 도구들의 특징을 한 번에 비교해보겠습니다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“정리해 보면 </a:t>
            </a:r>
            <a:r>
              <a:rPr lang="en-US" altLang="ko-KR" dirty="0"/>
              <a:t>Excel</a:t>
            </a:r>
            <a:r>
              <a:rPr lang="ko-KR" altLang="en-US" dirty="0"/>
              <a:t>은 간단하고 빠른 분석</a:t>
            </a:r>
            <a:r>
              <a:rPr lang="en-US" altLang="ko-KR" dirty="0"/>
              <a:t>, Tableau</a:t>
            </a:r>
            <a:r>
              <a:rPr lang="ko-KR" altLang="en-US" dirty="0"/>
              <a:t>와 </a:t>
            </a:r>
            <a:r>
              <a:rPr lang="en-US" altLang="ko-KR" dirty="0"/>
              <a:t>Power BI</a:t>
            </a:r>
            <a:r>
              <a:rPr lang="ko-KR" altLang="en-US" dirty="0"/>
              <a:t>는 </a:t>
            </a:r>
            <a:r>
              <a:rPr lang="en-US" altLang="ko-KR" dirty="0"/>
              <a:t>BI</a:t>
            </a:r>
            <a:r>
              <a:rPr lang="ko-KR" altLang="en-US" dirty="0"/>
              <a:t>와 대시보드 제작에 적합합니다</a:t>
            </a:r>
            <a:r>
              <a:rPr lang="en-US" altLang="ko-KR" dirty="0"/>
              <a:t>. Python</a:t>
            </a:r>
            <a:r>
              <a:rPr lang="ko-KR" altLang="en-US" dirty="0"/>
              <a:t>에서는 </a:t>
            </a:r>
            <a:r>
              <a:rPr lang="en-US" altLang="ko-KR" dirty="0"/>
              <a:t>Matplotlib</a:t>
            </a:r>
            <a:r>
              <a:rPr lang="ko-KR" altLang="en-US" dirty="0"/>
              <a:t>이 기본 시각화</a:t>
            </a:r>
            <a:r>
              <a:rPr lang="en-US" altLang="ko-KR" dirty="0"/>
              <a:t>, Seaborn</a:t>
            </a:r>
            <a:r>
              <a:rPr lang="ko-KR" altLang="en-US" dirty="0"/>
              <a:t>이 통계적인 데이터 탐색</a:t>
            </a:r>
            <a:r>
              <a:rPr lang="en-US" altLang="ko-KR" dirty="0"/>
              <a:t>, </a:t>
            </a:r>
            <a:r>
              <a:rPr lang="en-US" altLang="ko-KR" dirty="0" err="1"/>
              <a:t>Plotly</a:t>
            </a:r>
            <a:r>
              <a:rPr lang="ko-KR" altLang="en-US" dirty="0"/>
              <a:t>가 인터랙티브 시각화에 강점이 있습니다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ko-KR" altLang="en-US" b="1" dirty="0"/>
              <a:t>하나의 도구만 사용하는 것이 아니라 분석 목적에 따라 적절한 도구를 선택하는 것이 중요합니다</a:t>
            </a:r>
            <a:r>
              <a:rPr lang="en-US" altLang="ko-KR" b="1" dirty="0"/>
              <a:t>.</a:t>
            </a:r>
            <a:r>
              <a:rPr lang="ko-KR" altLang="en-US" dirty="0"/>
              <a:t>” </a:t>
            </a:r>
          </a:p>
          <a:p>
            <a:r>
              <a:rPr lang="ko-KR" altLang="en-US" b="1" dirty="0"/>
              <a:t>“그럼 이제부터는 </a:t>
            </a:r>
            <a:r>
              <a:rPr lang="en-US" altLang="ko-KR" b="1" dirty="0"/>
              <a:t>Python</a:t>
            </a:r>
            <a:r>
              <a:rPr lang="ko-KR" altLang="en-US" b="1" dirty="0"/>
              <a:t>을 통한 시각화 실습을 진행하도록 하겠습니다</a:t>
            </a:r>
            <a:r>
              <a:rPr lang="en-US" altLang="ko-KR" b="1"/>
              <a:t>.</a:t>
            </a:r>
            <a:endParaRPr lang="ko-KR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데이터 분석 시각화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" y="22402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8F2"/>
                </a:solidFill>
              </a:rPr>
              <a:t>왜 시각화하는가 · 어떤 도구를 사용하는가 · Python에서는 무엇을 배우는가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" y="3063240"/>
            <a:ext cx="1965960" cy="73152"/>
          </a:xfrm>
          <a:prstGeom prst="rect">
            <a:avLst/>
          </a:prstGeom>
          <a:solidFill>
            <a:srgbClr val="62B0E8"/>
          </a:solidFill>
          <a:ln w="12700">
            <a:solidFill>
              <a:srgbClr val="62B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1. 데이터 시각화란?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</a:rPr>
              <a:t>숫자와 문자를 그래프·차트·지도 등으로 표현하여 패턴과 의미를 빠르게 이해하는 과정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75B5"/>
                </a:solidFill>
              </a:rPr>
              <a:t>월별 매출 데이터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</a:rPr>
              <a:t>1월 120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</a:rPr>
              <a:t>2월 135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</a:rPr>
              <a:t>3월 180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</a:rPr>
              <a:t>4월 170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</a:rPr>
              <a:t>5월 230</a:t>
            </a:r>
            <a:endParaRPr lang="en-US" sz="2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749040" y="1508760"/>
          <a:ext cx="72237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840480" y="58064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표보다 그래프에서 “전체 증가 + 4월의 일시 감소”가 더 </a:t>
            </a:r>
            <a:r>
              <a:rPr lang="ko-KR" altLang="en-US" sz="1500" b="1" dirty="0">
                <a:solidFill>
                  <a:srgbClr val="17324D"/>
                </a:solidFill>
              </a:rPr>
              <a:t>빠르게 이해 가능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2. 데이터 시각화를 하는 이유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시각화는 단순히 예쁜 그래프를 만드는 일이 아니라 분석과 </a:t>
            </a:r>
            <a:r>
              <a:rPr lang="en-US" sz="1600" dirty="0" err="1">
                <a:solidFill>
                  <a:srgbClr val="6B7280"/>
                </a:solidFill>
              </a:rPr>
              <a:t>커뮤니케이션의</a:t>
            </a:r>
            <a:r>
              <a:rPr lang="en-US" sz="1600" dirty="0">
                <a:solidFill>
                  <a:srgbClr val="6B7280"/>
                </a:solidFill>
              </a:rPr>
              <a:t> </a:t>
            </a:r>
            <a:r>
              <a:rPr lang="en-US" sz="1600" dirty="0" err="1">
                <a:solidFill>
                  <a:srgbClr val="6B7280"/>
                </a:solidFill>
              </a:rPr>
              <a:t>도구</a:t>
            </a:r>
            <a:r>
              <a:rPr lang="ko-KR" altLang="en-US" sz="1600" dirty="0">
                <a:solidFill>
                  <a:srgbClr val="6B7280"/>
                </a:solidFill>
              </a:rPr>
              <a:t>이다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074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75B5"/>
                </a:solidFill>
              </a:rPr>
              <a:t>패턴 발견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31343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시간 흐름 속 증가·감소·계절성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074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10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75B5"/>
                </a:solidFill>
              </a:rPr>
              <a:t>데이터 비교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31343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지역·제품·집단 간 차이를 빠르게 비교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03320"/>
            <a:ext cx="5074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59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75B5"/>
                </a:solidFill>
              </a:rPr>
              <a:t>이상치 발견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05840" y="446227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일반적인 범위에서 벗어난 값 탐색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03320"/>
            <a:ext cx="5074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59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75B5"/>
                </a:solidFill>
              </a:rPr>
              <a:t>결과 전달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37960" y="446227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분석 결과를 다른 사람이 직관적으로 이해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9893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데이터 분석이 데이터를 이해하는 과정이라면, 데이터 시각화는 데이터를 보고 이해하고 전달하는 과정이다.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3. 데이터 시각화 도구의 큰 분류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목적과 사용 환경에 따라 도구 </a:t>
            </a:r>
            <a:r>
              <a:rPr lang="en-US" sz="1600" dirty="0" err="1">
                <a:solidFill>
                  <a:srgbClr val="6B7280"/>
                </a:solidFill>
              </a:rPr>
              <a:t>선택이</a:t>
            </a:r>
            <a:r>
              <a:rPr lang="en-US" sz="1600" dirty="0">
                <a:solidFill>
                  <a:srgbClr val="6B7280"/>
                </a:solidFill>
              </a:rPr>
              <a:t> </a:t>
            </a:r>
            <a:r>
              <a:rPr lang="en-US" sz="1600" dirty="0" err="1">
                <a:solidFill>
                  <a:srgbClr val="6B7280"/>
                </a:solidFill>
              </a:rPr>
              <a:t>달라</a:t>
            </a:r>
            <a:r>
              <a:rPr lang="ko-KR" altLang="en-US" sz="1600" dirty="0">
                <a:solidFill>
                  <a:srgbClr val="6B7280"/>
                </a:solidFill>
              </a:rPr>
              <a:t>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42900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</a:rPr>
              <a:t>BI / 노코드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Excel · Tableau · Power BI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GUI 중심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빠른 보고서와 대시보드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429000" cy="356616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7DB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920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</a:rPr>
              <a:t>Python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09160" y="2697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Matplotlib · Seaborn · Plotly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703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코드 기반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분석·자동화·재현성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42900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9202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</a:rPr>
              <a:t>Web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503920" y="26974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D3.js · ECharts 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3703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웹 기반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</a:rPr>
              <a:t>고급 인터랙티브 시각화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58064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“어떤 도구가 최고인가?”보다 “어떤 목적에 어떤 도구가 적합한가?”가 </a:t>
            </a:r>
            <a:r>
              <a:rPr lang="en-US" sz="1700" b="1" dirty="0" err="1">
                <a:solidFill>
                  <a:srgbClr val="17324D"/>
                </a:solidFill>
              </a:rPr>
              <a:t>중요</a:t>
            </a:r>
            <a:r>
              <a:rPr lang="ko-KR" altLang="en-US" sz="1700" b="1" dirty="0">
                <a:solidFill>
                  <a:srgbClr val="17324D"/>
                </a:solidFill>
              </a:rPr>
              <a:t>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44F09D-ED43-44B7-A26B-129D552F8DD7}"/>
              </a:ext>
            </a:extLst>
          </p:cNvPr>
          <p:cNvSpPr/>
          <p:nvPr/>
        </p:nvSpPr>
        <p:spPr>
          <a:xfrm>
            <a:off x="189633" y="6353294"/>
            <a:ext cx="3529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BI Tool : Business Intelligence Tool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4. Excel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쉽고 빠르게 데이터를 확인하고 시각화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pic>
        <p:nvPicPr>
          <p:cNvPr id="5" name="Image 0" descr="/mnt/data/excel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25780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8288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가장 접근하기 쉬운 데이터 시각화 도구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34340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막대·선·원·산점도 등 기본 차트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피벗 테이블·피벗 차트·슬라이서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프로그래밍 없이 빠른 탐색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간단한 분석·보고서에 적합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5. Tableau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Drag &amp; Drop 기반의 전문 BI·대시보드 도구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pic>
        <p:nvPicPr>
          <p:cNvPr id="5" name="Image 0" descr="/mnt/data/table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127" y="3611880"/>
            <a:ext cx="4524936" cy="27871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8288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데이터 탐색과 대시보드 제작에 특화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34340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다양한 데이터 소스 연결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대화형 필터와 시각적 탐색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지도·대시보드 구성에 강점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분석 결과 공유에 효과적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06</a:t>
            </a:r>
            <a:endParaRPr lang="en-US" sz="900" dirty="0"/>
          </a:p>
        </p:txBody>
      </p:sp>
      <p:pic>
        <p:nvPicPr>
          <p:cNvPr id="1026" name="Picture 2" descr="tableau infographics services | Joey the Explorer">
            <a:extLst>
              <a:ext uri="{FF2B5EF4-FFF2-40B4-BE49-F238E27FC236}">
                <a16:creationId xmlns:a16="http://schemas.microsoft.com/office/drawing/2014/main" id="{90E95F62-71E9-4F39-80E3-D20A169C0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964" y="762544"/>
            <a:ext cx="4563035" cy="255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6. Power BI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Microsoft 생태계와 결합된 기업용 BI 도구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pic>
        <p:nvPicPr>
          <p:cNvPr id="5" name="Image 0" descr="/mnt/data/power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810" y="618570"/>
            <a:ext cx="4177553" cy="28767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8288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기업 데이터 분석·보고서·대시보드 제작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34340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Excel 및 다양한 데이터 소스 연계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KPI·차트·지도 등을 한 화면에 구성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조직 내 공유와 모니터링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기업용 BI 환경에 적합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07</a:t>
            </a:r>
            <a:endParaRPr lang="en-US" sz="900" dirty="0"/>
          </a:p>
        </p:txBody>
      </p:sp>
      <p:pic>
        <p:nvPicPr>
          <p:cNvPr id="2050" name="Picture 2" descr="İş Zekası (BI)">
            <a:extLst>
              <a:ext uri="{FF2B5EF4-FFF2-40B4-BE49-F238E27FC236}">
                <a16:creationId xmlns:a16="http://schemas.microsoft.com/office/drawing/2014/main" id="{C2962AF3-B230-43DA-BEEC-66C545EA1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810" y="3657600"/>
            <a:ext cx="4177553" cy="305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7. Python 시각화 라이브러리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Python에서는 Matplotlib을 기반으로 </a:t>
            </a:r>
            <a:r>
              <a:rPr lang="en-US" sz="1600" dirty="0" err="1">
                <a:solidFill>
                  <a:srgbClr val="6B7280"/>
                </a:solidFill>
              </a:rPr>
              <a:t>Seaborn과</a:t>
            </a:r>
            <a:r>
              <a:rPr lang="en-US" sz="1600" dirty="0">
                <a:solidFill>
                  <a:srgbClr val="6B7280"/>
                </a:solidFill>
              </a:rPr>
              <a:t> </a:t>
            </a:r>
            <a:r>
              <a:rPr lang="en-US" sz="1600" dirty="0" err="1">
                <a:solidFill>
                  <a:srgbClr val="6B7280"/>
                </a:solidFill>
              </a:rPr>
              <a:t>Plotly</a:t>
            </a:r>
            <a:r>
              <a:rPr lang="en-US" sz="1600" dirty="0">
                <a:solidFill>
                  <a:srgbClr val="6B7280"/>
                </a:solidFill>
              </a:rPr>
              <a:t> </a:t>
            </a:r>
            <a:r>
              <a:rPr lang="ko-KR" altLang="en-US" sz="1600" dirty="0">
                <a:solidFill>
                  <a:srgbClr val="6B7280"/>
                </a:solidFill>
              </a:rPr>
              <a:t>등 코드기반의 여러 시각화 라이브러리가 있다</a:t>
            </a:r>
            <a:r>
              <a:rPr lang="en-US" altLang="ko-KR" sz="1600" dirty="0">
                <a:solidFill>
                  <a:srgbClr val="6B7280"/>
                </a:solidFill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154680" cy="24688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B8CD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</a:rPr>
              <a:t>Matplotlib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기본 그래프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474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Python 시각화의 기본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2743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3154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240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</a:rPr>
              <a:t>Seaborn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2880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통계 시각화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474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EDA와 관계·분포 분석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18120" y="2743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321040" y="1828800"/>
            <a:ext cx="3154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D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2402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</a:rPr>
              <a:t>Plotly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5B5"/>
                </a:solidFill>
              </a:rPr>
              <a:t>인터랙티브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3474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</a:rPr>
              <a:t>마우스 상호작용·웹 시각화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6E15B2D5-3112-40EC-9560-B3850ED35381}"/>
              </a:ext>
            </a:extLst>
          </p:cNvPr>
          <p:cNvSpPr/>
          <p:nvPr/>
        </p:nvSpPr>
        <p:spPr>
          <a:xfrm>
            <a:off x="68580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8. Matplotlib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Python 데이터 시각화의 기본 라이브러리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4036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대표 함수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3657600" cy="310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plt.plot()  선 그래프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plt.bar()  막대 그래프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plt.scatter()  산점도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plt.hist()  히스토그램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plt.pie()  원 그래프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09</a:t>
            </a:r>
            <a:endParaRPr lang="en-US" sz="900" dirty="0"/>
          </a:p>
        </p:txBody>
      </p:sp>
      <p:pic>
        <p:nvPicPr>
          <p:cNvPr id="3074" name="Picture 2" descr="Python: Matplotlib-Graph plot &gt;">
            <a:extLst>
              <a:ext uri="{FF2B5EF4-FFF2-40B4-BE49-F238E27FC236}">
                <a16:creationId xmlns:a16="http://schemas.microsoft.com/office/drawing/2014/main" id="{8EDAE509-DCA1-4C77-B49F-1AB24DC3A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387" y="1874520"/>
            <a:ext cx="5498951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9. Seaborn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Matplotlib 기반의 통계 데이터 시각화 라이브러리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pic>
        <p:nvPicPr>
          <p:cNvPr id="5" name="Image 0" descr="/mnt/data/seabo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25780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8288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데이터 분석 과정에서 관계와 분포를 빠르게 파악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34340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histplot · boxplot : 분포 확인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scatterplot : 변수 간 관계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heatmap : 상관관계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pairplot : 여러 변수 관계를 한 번에 탐색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38160" y="5943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화면 예시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10. Plotly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웹 기반 인터랙티브 시각화에 강한 Python 라이브러리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pic>
        <p:nvPicPr>
          <p:cNvPr id="5" name="Image 0" descr="/mnt/data/plot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25780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8288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확대·축소·Hover 등 사용자 상호작용 지원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34340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마우스를 올려 데이터 값 확인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확대·축소 및 범위 탐색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대화형 그래프와 웹 시각화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Dash와 결합해 대시보드 구성 가능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38160" y="5943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화면 예시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</a:rPr>
              <a:t>11. 시각화 도구 비교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도구의 목적과 강점을 한눈에 정리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D7E2EC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741688"/>
              </p:ext>
            </p:extLst>
          </p:nvPr>
        </p:nvGraphicFramePr>
        <p:xfrm>
          <a:off x="777240" y="1417319"/>
          <a:ext cx="10652760" cy="429766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도구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난이도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주요 특징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추천 용도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Excel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★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쉽고 빠름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간단한 분석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Tableau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★★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전문적인 시각화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BI / 대시보드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Power BI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★★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기업 데이터 분석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BI / 보고서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Matplotlib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★★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Python 기본 시각화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데이터 분석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Seaborn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★★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통계 시각화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탐색적 데이터 분석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Plotly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★★★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인터랙티브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</a:rPr>
                        <a:t>웹 / 대시보드</a:t>
                      </a:r>
                      <a:endParaRPr lang="en-US" sz="20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017520" y="6080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75B5"/>
                </a:solidFill>
              </a:rPr>
              <a:t>목적에 따라 도구가 달라진다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1290</Words>
  <Application>Microsoft Office PowerPoint</Application>
  <PresentationFormat>와이드스크린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Aptos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 시각화 입문</dc:title>
  <dc:subject>데이터 분석 시각화</dc:subject>
  <dc:creator>OpenAI</dc:creator>
  <cp:lastModifiedBy>admin</cp:lastModifiedBy>
  <cp:revision>29</cp:revision>
  <dcterms:created xsi:type="dcterms:W3CDTF">2026-08-18T12:46:03Z</dcterms:created>
  <dcterms:modified xsi:type="dcterms:W3CDTF">2026-08-19T01:23:55Z</dcterms:modified>
</cp:coreProperties>
</file>